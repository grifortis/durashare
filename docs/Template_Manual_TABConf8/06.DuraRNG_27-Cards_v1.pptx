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72" r:id="rId1"/>
  </p:sldMasterIdLst>
  <p:notesMasterIdLst>
    <p:notesMasterId r:id="rId3"/>
  </p:notesMasterIdLst>
  <p:sldIdLst>
    <p:sldId id="262" r:id="rId2"/>
  </p:sldIdLst>
  <p:sldSz cx="9906000" cy="6858000" type="A4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97132"/>
    <a:srgbClr val="A02A93"/>
    <a:srgbClr val="FBFBFB"/>
    <a:srgbClr val="4EA72E"/>
    <a:srgbClr val="0F9E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773"/>
    <p:restoredTop sz="95279"/>
  </p:normalViewPr>
  <p:slideViewPr>
    <p:cSldViewPr snapToGrid="0">
      <p:cViewPr varScale="1">
        <p:scale>
          <a:sx n="193" d="100"/>
          <a:sy n="193" d="100"/>
        </p:scale>
        <p:origin x="2672" y="208"/>
      </p:cViewPr>
      <p:guideLst>
        <p:guide orient="horz" pos="2160"/>
        <p:guide pos="3120"/>
      </p:guideLst>
    </p:cSldViewPr>
  </p:slideViewPr>
  <p:notesTextViewPr>
    <p:cViewPr>
      <p:scale>
        <a:sx n="20" d="100"/>
        <a:sy n="2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B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7A1A1E-9FB4-C942-83F2-2E882B02486B}" type="datetimeFigureOut">
              <a:rPr lang="en-BR" smtClean="0"/>
              <a:t>02/10/26</a:t>
            </a:fld>
            <a:endParaRPr lang="en-B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900363" y="857250"/>
            <a:ext cx="3343275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B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E819C9-7153-B14B-B279-2EA491EAB301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36594026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900363" y="857250"/>
            <a:ext cx="3343275" cy="23145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E819C9-7153-B14B-B279-2EA491EAB301}" type="slidenum">
              <a:rPr lang="en-BR" smtClean="0"/>
              <a:t>1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23008672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024E4-3450-1046-AE64-B43B46F2996A}" type="datetime1">
              <a:rPr lang="en-US" smtClean="0"/>
              <a:t>10/2/26</a:t>
            </a:fld>
            <a:endParaRPr lang="en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F7D92-AD88-7540-BFB7-79DF3EE9A624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6228011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4AA9B-F3A6-4F48-BD85-6A6B912EC266}" type="datetime1">
              <a:rPr lang="en-US" smtClean="0"/>
              <a:t>10/2/26</a:t>
            </a:fld>
            <a:endParaRPr lang="en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F7D92-AD88-7540-BFB7-79DF3EE9A624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39838709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04EE2-7F41-7042-B8C8-244FFACED51B}" type="datetime1">
              <a:rPr lang="en-US" smtClean="0"/>
              <a:t>10/2/26</a:t>
            </a:fld>
            <a:endParaRPr lang="en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F7D92-AD88-7540-BFB7-79DF3EE9A624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20158625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AAD08F-87E3-6540-8174-C4C0400AEFD8}" type="datetime1">
              <a:rPr lang="en-US" smtClean="0"/>
              <a:t>10/2/26</a:t>
            </a:fld>
            <a:endParaRPr lang="en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F7D92-AD88-7540-BFB7-79DF3EE9A624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38968548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6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540E6-6DFF-B44E-87E6-2292B84E18B6}" type="datetime1">
              <a:rPr lang="en-US" smtClean="0"/>
              <a:t>10/2/26</a:t>
            </a:fld>
            <a:endParaRPr lang="en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F7D92-AD88-7540-BFB7-79DF3EE9A624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10875476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9C164-A73D-0746-BC60-0B7DB9F0D311}" type="datetime1">
              <a:rPr lang="en-US" smtClean="0"/>
              <a:t>10/2/26</a:t>
            </a:fld>
            <a:endParaRPr lang="en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F7D92-AD88-7540-BFB7-79DF3EE9A624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22202341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3341A-C547-5442-B12A-0B5A50B11DC1}" type="datetime1">
              <a:rPr lang="en-US" smtClean="0"/>
              <a:t>10/2/26</a:t>
            </a:fld>
            <a:endParaRPr lang="en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F7D92-AD88-7540-BFB7-79DF3EE9A624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2864162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6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CD2694-40D9-E741-A72D-E99892AFD2F2}" type="datetime1">
              <a:rPr lang="en-US" smtClean="0"/>
              <a:t>10/2/26</a:t>
            </a:fld>
            <a:endParaRPr lang="en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F7D92-AD88-7540-BFB7-79DF3EE9A624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24745438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6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CB594-C7C0-3742-B41F-E1BF6F153843}" type="datetime1">
              <a:rPr lang="en-US" smtClean="0"/>
              <a:t>10/2/26</a:t>
            </a:fld>
            <a:endParaRPr lang="en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F7D92-AD88-7540-BFB7-79DF3EE9A624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10361816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F824CC-A669-5F43-9B46-C7099D091F19}" type="datetime1">
              <a:rPr lang="en-US" smtClean="0"/>
              <a:t>10/2/26</a:t>
            </a:fld>
            <a:endParaRPr lang="en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F7D92-AD88-7540-BFB7-79DF3EE9A624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20386840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7C900-83D4-C64B-86FB-0326E0E513F9}" type="datetime1">
              <a:rPr lang="en-US" smtClean="0"/>
              <a:t>10/2/26</a:t>
            </a:fld>
            <a:endParaRPr lang="en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F7D92-AD88-7540-BFB7-79DF3EE9A624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30415016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6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946F12-8C20-404E-A113-F20F2E247EA2}" type="datetime1">
              <a:rPr lang="en-US" smtClean="0"/>
              <a:t>10/2/26</a:t>
            </a:fld>
            <a:endParaRPr lang="en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2F7D92-AD88-7540-BFB7-79DF3EE9A624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15368461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65" descr="A logo of a griffin&#10;&#10;AI-generated content may be incorrect.">
            <a:extLst>
              <a:ext uri="{FF2B5EF4-FFF2-40B4-BE49-F238E27FC236}">
                <a16:creationId xmlns:a16="http://schemas.microsoft.com/office/drawing/2014/main" id="{731AA023-C156-A0F4-FC54-937EE91008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55535" y="139329"/>
            <a:ext cx="544198" cy="544198"/>
          </a:xfrm>
          <a:prstGeom prst="rect">
            <a:avLst/>
          </a:prstGeom>
          <a:noFill/>
        </p:spPr>
      </p:pic>
      <p:sp>
        <p:nvSpPr>
          <p:cNvPr id="67" name="TextBox 66">
            <a:extLst>
              <a:ext uri="{FF2B5EF4-FFF2-40B4-BE49-F238E27FC236}">
                <a16:creationId xmlns:a16="http://schemas.microsoft.com/office/drawing/2014/main" id="{91307BD5-F396-46C8-7AB4-A73590B5FF2C}"/>
              </a:ext>
            </a:extLst>
          </p:cNvPr>
          <p:cNvSpPr txBox="1"/>
          <p:nvPr/>
        </p:nvSpPr>
        <p:spPr>
          <a:xfrm>
            <a:off x="3484805" y="139329"/>
            <a:ext cx="29305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DuraRNG</a:t>
            </a:r>
            <a:r>
              <a:rPr lang="en-US" dirty="0"/>
              <a:t> 27-Cards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97AFCDD-AE55-DD56-2653-839895B2821B}"/>
              </a:ext>
            </a:extLst>
          </p:cNvPr>
          <p:cNvSpPr txBox="1"/>
          <p:nvPr/>
        </p:nvSpPr>
        <p:spPr>
          <a:xfrm>
            <a:off x="183631" y="6520933"/>
            <a:ext cx="953287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b="1" dirty="0"/>
              <a:t>© 2026 GRIFORTIS. </a:t>
            </a:r>
            <a:r>
              <a:rPr lang="en-US" sz="600" dirty="0"/>
              <a:t>Licensed under </a:t>
            </a:r>
            <a:r>
              <a:rPr lang="en-US" sz="600" b="1" dirty="0"/>
              <a:t>CC BY-NC-SA 4.0</a:t>
            </a:r>
            <a:r>
              <a:rPr lang="en-US" sz="600" dirty="0"/>
              <a:t> (Free for personal &amp; educational use). Underlying </a:t>
            </a:r>
            <a:r>
              <a:rPr lang="en-US" sz="600" dirty="0" err="1"/>
              <a:t>DuraShare</a:t>
            </a:r>
            <a:r>
              <a:rPr lang="en-US" sz="600" dirty="0"/>
              <a:t> protocol is Open Source. Provided "as is" without warranty. The user accepts full responsibility for the secure execution of the protocol. v0.7.1</a:t>
            </a:r>
          </a:p>
          <a:p>
            <a:r>
              <a:rPr lang="en-US" sz="600" dirty="0"/>
              <a:t>The cryptographic principles used demand a uniform distribution of random values on the fields. That requires thorough shuffling methods, such as at least 7 riffle shuffles or wash (smooshing) the cards for at least 1 minute.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A6A4B3F-2000-D030-741E-24950B1A2818}"/>
              </a:ext>
            </a:extLst>
          </p:cNvPr>
          <p:cNvSpPr txBox="1"/>
          <p:nvPr/>
        </p:nvSpPr>
        <p:spPr>
          <a:xfrm>
            <a:off x="1015871" y="710123"/>
            <a:ext cx="7873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EA7132"/>
                </a:solidFill>
              </a:rPr>
              <a:t>Clubs</a:t>
            </a: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39927561-BAB4-9D1E-49B6-D9F473C22B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7373383"/>
              </p:ext>
            </p:extLst>
          </p:nvPr>
        </p:nvGraphicFramePr>
        <p:xfrm>
          <a:off x="329513" y="1017900"/>
          <a:ext cx="2160112" cy="2133600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1080056">
                  <a:extLst>
                    <a:ext uri="{9D8B030D-6E8A-4147-A177-3AD203B41FA5}">
                      <a16:colId xmlns:a16="http://schemas.microsoft.com/office/drawing/2014/main" val="1179244421"/>
                    </a:ext>
                  </a:extLst>
                </a:gridCol>
                <a:gridCol w="1080056">
                  <a:extLst>
                    <a:ext uri="{9D8B030D-6E8A-4147-A177-3AD203B41FA5}">
                      <a16:colId xmlns:a16="http://schemas.microsoft.com/office/drawing/2014/main" val="1257275978"/>
                    </a:ext>
                  </a:extLst>
                </a:gridCol>
              </a:tblGrid>
              <a:tr h="259833">
                <a:tc>
                  <a:txBody>
                    <a:bodyPr/>
                    <a:lstStyle/>
                    <a:p>
                      <a:pPr algn="ctr"/>
                      <a:r>
                        <a:rPr lang="en-BR" sz="1400" b="0" dirty="0"/>
                        <a:t>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BR" sz="1400" b="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4760961"/>
                  </a:ext>
                </a:extLst>
              </a:tr>
              <a:tr h="259833">
                <a:tc>
                  <a:txBody>
                    <a:bodyPr/>
                    <a:lstStyle/>
                    <a:p>
                      <a:pPr algn="ctr"/>
                      <a:r>
                        <a:rPr lang="en-BR" sz="1400" b="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BR" sz="1400" b="0" dirty="0"/>
                        <a:t>294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3660099"/>
                  </a:ext>
                </a:extLst>
              </a:tr>
              <a:tr h="259833">
                <a:tc>
                  <a:txBody>
                    <a:bodyPr/>
                    <a:lstStyle/>
                    <a:p>
                      <a:pPr algn="ctr"/>
                      <a:r>
                        <a:rPr lang="en-BR" sz="1400" b="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BR" sz="1400" b="0" dirty="0"/>
                        <a:t>588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2179902"/>
                  </a:ext>
                </a:extLst>
              </a:tr>
              <a:tr h="259833">
                <a:tc>
                  <a:txBody>
                    <a:bodyPr/>
                    <a:lstStyle/>
                    <a:p>
                      <a:pPr algn="ctr"/>
                      <a:r>
                        <a:rPr lang="en-BR" sz="1400" b="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BR" sz="1400" b="0" dirty="0"/>
                        <a:t>882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6751332"/>
                  </a:ext>
                </a:extLst>
              </a:tr>
              <a:tr h="259833">
                <a:tc>
                  <a:txBody>
                    <a:bodyPr/>
                    <a:lstStyle/>
                    <a:p>
                      <a:pPr algn="ctr"/>
                      <a:r>
                        <a:rPr lang="en-BR" sz="1400" b="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BR" sz="1400" b="0" dirty="0"/>
                        <a:t>1176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2282600"/>
                  </a:ext>
                </a:extLst>
              </a:tr>
              <a:tr h="259833">
                <a:tc>
                  <a:txBody>
                    <a:bodyPr/>
                    <a:lstStyle/>
                    <a:p>
                      <a:pPr algn="ctr"/>
                      <a:r>
                        <a:rPr lang="en-BR" sz="1400" b="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BR" sz="1400" b="0" dirty="0"/>
                        <a:t>1470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288912"/>
                  </a:ext>
                </a:extLst>
              </a:tr>
              <a:tr h="259833">
                <a:tc>
                  <a:txBody>
                    <a:bodyPr/>
                    <a:lstStyle/>
                    <a:p>
                      <a:pPr algn="ctr"/>
                      <a:r>
                        <a:rPr lang="en-BR" sz="1400" b="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BR" sz="1400" b="0" dirty="0"/>
                        <a:t>1764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6490137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F94AE369-2CB3-281B-5832-7A50184066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3412666"/>
              </p:ext>
            </p:extLst>
          </p:nvPr>
        </p:nvGraphicFramePr>
        <p:xfrm>
          <a:off x="329513" y="3283399"/>
          <a:ext cx="2160112" cy="3244218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2160112">
                  <a:extLst>
                    <a:ext uri="{9D8B030D-6E8A-4147-A177-3AD203B41FA5}">
                      <a16:colId xmlns:a16="http://schemas.microsoft.com/office/drawing/2014/main" val="1421481832"/>
                    </a:ext>
                  </a:extLst>
                </a:gridCol>
              </a:tblGrid>
              <a:tr h="3244218">
                <a:tc>
                  <a:txBody>
                    <a:bodyPr/>
                    <a:lstStyle/>
                    <a:p>
                      <a:pPr algn="ctr"/>
                      <a:endParaRPr lang="en-BR" sz="6600" dirty="0"/>
                    </a:p>
                    <a:p>
                      <a:pPr algn="ctr"/>
                      <a:r>
                        <a:rPr lang="en-BR" sz="6600" dirty="0"/>
                        <a:t>♣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3866289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70536D1F-4C28-0F45-B7CB-54F3D39C03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6307904"/>
              </p:ext>
            </p:extLst>
          </p:nvPr>
        </p:nvGraphicFramePr>
        <p:xfrm>
          <a:off x="2689845" y="3283399"/>
          <a:ext cx="2160112" cy="3244218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2160112">
                  <a:extLst>
                    <a:ext uri="{9D8B030D-6E8A-4147-A177-3AD203B41FA5}">
                      <a16:colId xmlns:a16="http://schemas.microsoft.com/office/drawing/2014/main" val="1421481832"/>
                    </a:ext>
                  </a:extLst>
                </a:gridCol>
              </a:tblGrid>
              <a:tr h="3244218">
                <a:tc>
                  <a:txBody>
                    <a:bodyPr/>
                    <a:lstStyle/>
                    <a:p>
                      <a:pPr algn="ctr"/>
                      <a:endParaRPr lang="en-BR" sz="6600" dirty="0"/>
                    </a:p>
                    <a:p>
                      <a:pPr algn="ctr"/>
                      <a:r>
                        <a:rPr lang="en-BR" sz="6600" dirty="0"/>
                        <a:t>♥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3866289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920DDC1C-FB70-F69E-CEC3-BFFECC71EC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85452"/>
              </p:ext>
            </p:extLst>
          </p:nvPr>
        </p:nvGraphicFramePr>
        <p:xfrm>
          <a:off x="5053110" y="3283399"/>
          <a:ext cx="2160112" cy="3244218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2160112">
                  <a:extLst>
                    <a:ext uri="{9D8B030D-6E8A-4147-A177-3AD203B41FA5}">
                      <a16:colId xmlns:a16="http://schemas.microsoft.com/office/drawing/2014/main" val="1421481832"/>
                    </a:ext>
                  </a:extLst>
                </a:gridCol>
              </a:tblGrid>
              <a:tr h="3244218">
                <a:tc>
                  <a:txBody>
                    <a:bodyPr/>
                    <a:lstStyle/>
                    <a:p>
                      <a:pPr algn="ctr"/>
                      <a:endParaRPr lang="en-BR" sz="6600" dirty="0"/>
                    </a:p>
                    <a:p>
                      <a:pPr algn="ctr"/>
                      <a:r>
                        <a:rPr lang="en-BR" sz="6600" dirty="0"/>
                        <a:t>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3866289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116AB077-C847-B63A-3D13-C06C3BD2EE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2751319"/>
              </p:ext>
            </p:extLst>
          </p:nvPr>
        </p:nvGraphicFramePr>
        <p:xfrm>
          <a:off x="7413442" y="3283399"/>
          <a:ext cx="2160112" cy="3244218"/>
        </p:xfrm>
        <a:graphic>
          <a:graphicData uri="http://schemas.openxmlformats.org/drawingml/2006/table">
            <a:tbl>
              <a:tblPr firstRow="1" bandRow="1">
                <a:tableStyleId>{22838BEF-8BB2-4498-84A7-C5851F593DF1}</a:tableStyleId>
              </a:tblPr>
              <a:tblGrid>
                <a:gridCol w="2160112">
                  <a:extLst>
                    <a:ext uri="{9D8B030D-6E8A-4147-A177-3AD203B41FA5}">
                      <a16:colId xmlns:a16="http://schemas.microsoft.com/office/drawing/2014/main" val="1421481832"/>
                    </a:ext>
                  </a:extLst>
                </a:gridCol>
              </a:tblGrid>
              <a:tr h="3244218">
                <a:tc>
                  <a:txBody>
                    <a:bodyPr/>
                    <a:lstStyle/>
                    <a:p>
                      <a:pPr algn="ctr"/>
                      <a:endParaRPr lang="en-BR" sz="6600" dirty="0"/>
                    </a:p>
                    <a:p>
                      <a:pPr algn="ctr"/>
                      <a:r>
                        <a:rPr lang="en-BR" sz="6600" dirty="0"/>
                        <a:t>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3866289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9DCB3A2F-88B2-9B20-10C5-F649F42C14E8}"/>
              </a:ext>
            </a:extLst>
          </p:cNvPr>
          <p:cNvSpPr txBox="1"/>
          <p:nvPr/>
        </p:nvSpPr>
        <p:spPr>
          <a:xfrm>
            <a:off x="3376203" y="710123"/>
            <a:ext cx="7873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chemeClr val="accent4"/>
                </a:solidFill>
              </a:defRPr>
            </a:lvl1pPr>
          </a:lstStyle>
          <a:p>
            <a:r>
              <a:rPr lang="en-US" sz="1400" dirty="0"/>
              <a:t>Hearts</a:t>
            </a: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0F3ECD2E-0D69-5E27-63EA-11072E1BD1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6585446"/>
              </p:ext>
            </p:extLst>
          </p:nvPr>
        </p:nvGraphicFramePr>
        <p:xfrm>
          <a:off x="2689845" y="1017900"/>
          <a:ext cx="2160112" cy="213360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1080056">
                  <a:extLst>
                    <a:ext uri="{9D8B030D-6E8A-4147-A177-3AD203B41FA5}">
                      <a16:colId xmlns:a16="http://schemas.microsoft.com/office/drawing/2014/main" val="1179244421"/>
                    </a:ext>
                  </a:extLst>
                </a:gridCol>
                <a:gridCol w="1080056">
                  <a:extLst>
                    <a:ext uri="{9D8B030D-6E8A-4147-A177-3AD203B41FA5}">
                      <a16:colId xmlns:a16="http://schemas.microsoft.com/office/drawing/2014/main" val="1257275978"/>
                    </a:ext>
                  </a:extLst>
                </a:gridCol>
              </a:tblGrid>
              <a:tr h="259833">
                <a:tc>
                  <a:txBody>
                    <a:bodyPr/>
                    <a:lstStyle/>
                    <a:p>
                      <a:pPr algn="ctr"/>
                      <a:r>
                        <a:rPr lang="en-BR" sz="1400" b="0" dirty="0"/>
                        <a:t>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BR" sz="1400" b="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4760961"/>
                  </a:ext>
                </a:extLst>
              </a:tr>
              <a:tr h="259833">
                <a:tc>
                  <a:txBody>
                    <a:bodyPr/>
                    <a:lstStyle/>
                    <a:p>
                      <a:pPr algn="ctr"/>
                      <a:r>
                        <a:rPr lang="en-BR" sz="1400" b="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BR" sz="1400" b="0" dirty="0"/>
                        <a:t>42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3660099"/>
                  </a:ext>
                </a:extLst>
              </a:tr>
              <a:tr h="259833">
                <a:tc>
                  <a:txBody>
                    <a:bodyPr/>
                    <a:lstStyle/>
                    <a:p>
                      <a:pPr algn="ctr"/>
                      <a:r>
                        <a:rPr lang="en-BR" sz="1400" b="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BR" sz="1400" b="0" dirty="0"/>
                        <a:t>84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2179902"/>
                  </a:ext>
                </a:extLst>
              </a:tr>
              <a:tr h="259833">
                <a:tc>
                  <a:txBody>
                    <a:bodyPr/>
                    <a:lstStyle/>
                    <a:p>
                      <a:pPr algn="ctr"/>
                      <a:r>
                        <a:rPr lang="en-BR" sz="1400" b="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BR" sz="1400" b="0" dirty="0"/>
                        <a:t>126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6751332"/>
                  </a:ext>
                </a:extLst>
              </a:tr>
              <a:tr h="259833">
                <a:tc>
                  <a:txBody>
                    <a:bodyPr/>
                    <a:lstStyle/>
                    <a:p>
                      <a:pPr algn="ctr"/>
                      <a:r>
                        <a:rPr lang="en-BR" sz="1400" b="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BR" sz="1400" b="0" dirty="0"/>
                        <a:t>168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2282600"/>
                  </a:ext>
                </a:extLst>
              </a:tr>
              <a:tr h="259833">
                <a:tc>
                  <a:txBody>
                    <a:bodyPr/>
                    <a:lstStyle/>
                    <a:p>
                      <a:pPr algn="ctr"/>
                      <a:r>
                        <a:rPr lang="en-BR" sz="1400" b="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BR" sz="1400" b="0" dirty="0"/>
                        <a:t>210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288912"/>
                  </a:ext>
                </a:extLst>
              </a:tr>
              <a:tr h="259833">
                <a:tc>
                  <a:txBody>
                    <a:bodyPr/>
                    <a:lstStyle/>
                    <a:p>
                      <a:pPr algn="ctr"/>
                      <a:r>
                        <a:rPr lang="en-BR" sz="1400" b="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BR" sz="1400" b="0" dirty="0"/>
                        <a:t>252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6490137"/>
                  </a:ext>
                </a:extLst>
              </a:tr>
            </a:tbl>
          </a:graphicData>
        </a:graphic>
      </p:graphicFrame>
      <p:sp>
        <p:nvSpPr>
          <p:cNvPr id="24" name="TextBox 23">
            <a:extLst>
              <a:ext uri="{FF2B5EF4-FFF2-40B4-BE49-F238E27FC236}">
                <a16:creationId xmlns:a16="http://schemas.microsoft.com/office/drawing/2014/main" id="{E258CE13-7B57-4243-0C84-1F2E28AFA4B3}"/>
              </a:ext>
            </a:extLst>
          </p:cNvPr>
          <p:cNvSpPr txBox="1"/>
          <p:nvPr/>
        </p:nvSpPr>
        <p:spPr>
          <a:xfrm>
            <a:off x="5739468" y="710123"/>
            <a:ext cx="7873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sz="1400" dirty="0"/>
              <a:t>Spades</a:t>
            </a:r>
          </a:p>
        </p:txBody>
      </p:sp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098B0518-A4AB-7F36-8D86-ADE233D010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369565"/>
              </p:ext>
            </p:extLst>
          </p:nvPr>
        </p:nvGraphicFramePr>
        <p:xfrm>
          <a:off x="5053110" y="1017900"/>
          <a:ext cx="2160112" cy="2133600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1080056">
                  <a:extLst>
                    <a:ext uri="{9D8B030D-6E8A-4147-A177-3AD203B41FA5}">
                      <a16:colId xmlns:a16="http://schemas.microsoft.com/office/drawing/2014/main" val="1179244421"/>
                    </a:ext>
                  </a:extLst>
                </a:gridCol>
                <a:gridCol w="1080056">
                  <a:extLst>
                    <a:ext uri="{9D8B030D-6E8A-4147-A177-3AD203B41FA5}">
                      <a16:colId xmlns:a16="http://schemas.microsoft.com/office/drawing/2014/main" val="1257275978"/>
                    </a:ext>
                  </a:extLst>
                </a:gridCol>
              </a:tblGrid>
              <a:tr h="259833">
                <a:tc>
                  <a:txBody>
                    <a:bodyPr/>
                    <a:lstStyle/>
                    <a:p>
                      <a:pPr algn="ctr"/>
                      <a:r>
                        <a:rPr lang="en-BR" sz="1400" b="0" dirty="0"/>
                        <a:t>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BR" sz="1400" b="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4760961"/>
                  </a:ext>
                </a:extLst>
              </a:tr>
              <a:tr h="259833">
                <a:tc>
                  <a:txBody>
                    <a:bodyPr/>
                    <a:lstStyle/>
                    <a:p>
                      <a:pPr algn="ctr"/>
                      <a:r>
                        <a:rPr lang="en-BR" sz="1400" b="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BR" sz="1400" b="0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3660099"/>
                  </a:ext>
                </a:extLst>
              </a:tr>
              <a:tr h="259833">
                <a:tc>
                  <a:txBody>
                    <a:bodyPr/>
                    <a:lstStyle/>
                    <a:p>
                      <a:pPr algn="ctr"/>
                      <a:r>
                        <a:rPr lang="en-BR" sz="1400" b="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BR" sz="1400" b="0" dirty="0"/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2179902"/>
                  </a:ext>
                </a:extLst>
              </a:tr>
              <a:tr h="259833">
                <a:tc>
                  <a:txBody>
                    <a:bodyPr/>
                    <a:lstStyle/>
                    <a:p>
                      <a:pPr algn="ctr"/>
                      <a:r>
                        <a:rPr lang="en-BR" sz="1400" b="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BR" sz="1400" b="0" dirty="0"/>
                        <a:t>18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6751332"/>
                  </a:ext>
                </a:extLst>
              </a:tr>
              <a:tr h="259833">
                <a:tc>
                  <a:txBody>
                    <a:bodyPr/>
                    <a:lstStyle/>
                    <a:p>
                      <a:pPr algn="ctr"/>
                      <a:r>
                        <a:rPr lang="en-BR" sz="1400" b="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BR" sz="1400" b="0" dirty="0"/>
                        <a:t>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2282600"/>
                  </a:ext>
                </a:extLst>
              </a:tr>
              <a:tr h="259833">
                <a:tc>
                  <a:txBody>
                    <a:bodyPr/>
                    <a:lstStyle/>
                    <a:p>
                      <a:pPr algn="ctr"/>
                      <a:r>
                        <a:rPr lang="en-BR" sz="1400" b="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BR" sz="1400" b="0" dirty="0"/>
                        <a:t>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288912"/>
                  </a:ext>
                </a:extLst>
              </a:tr>
              <a:tr h="259833">
                <a:tc>
                  <a:txBody>
                    <a:bodyPr/>
                    <a:lstStyle/>
                    <a:p>
                      <a:pPr algn="ctr"/>
                      <a:r>
                        <a:rPr lang="en-BR" sz="1400" b="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BR" sz="1400" b="0" dirty="0"/>
                        <a:t>36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6490137"/>
                  </a:ext>
                </a:extLst>
              </a:tr>
            </a:tbl>
          </a:graphicData>
        </a:graphic>
      </p:graphicFrame>
      <p:sp>
        <p:nvSpPr>
          <p:cNvPr id="27" name="TextBox 26">
            <a:extLst>
              <a:ext uri="{FF2B5EF4-FFF2-40B4-BE49-F238E27FC236}">
                <a16:creationId xmlns:a16="http://schemas.microsoft.com/office/drawing/2014/main" id="{15ED6585-7F9C-D37E-EDD6-ED83787E4AEB}"/>
              </a:ext>
            </a:extLst>
          </p:cNvPr>
          <p:cNvSpPr txBox="1"/>
          <p:nvPr/>
        </p:nvSpPr>
        <p:spPr>
          <a:xfrm>
            <a:off x="7938025" y="688133"/>
            <a:ext cx="1110945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A02A93"/>
                </a:solidFill>
              </a:defRPr>
            </a:lvl1pPr>
          </a:lstStyle>
          <a:p>
            <a:r>
              <a:rPr lang="en-US" sz="1400" dirty="0"/>
              <a:t>Diamonds</a:t>
            </a:r>
          </a:p>
        </p:txBody>
      </p:sp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8B1ACF73-660D-7CDA-2F16-A523DFFBF6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3917881"/>
              </p:ext>
            </p:extLst>
          </p:nvPr>
        </p:nvGraphicFramePr>
        <p:xfrm>
          <a:off x="7413442" y="1017900"/>
          <a:ext cx="2160112" cy="2133600"/>
        </p:xfrm>
        <a:graphic>
          <a:graphicData uri="http://schemas.openxmlformats.org/drawingml/2006/table">
            <a:tbl>
              <a:tblPr firstRow="1" bandRow="1">
                <a:tableStyleId>{22838BEF-8BB2-4498-84A7-C5851F593DF1}</a:tableStyleId>
              </a:tblPr>
              <a:tblGrid>
                <a:gridCol w="1080056">
                  <a:extLst>
                    <a:ext uri="{9D8B030D-6E8A-4147-A177-3AD203B41FA5}">
                      <a16:colId xmlns:a16="http://schemas.microsoft.com/office/drawing/2014/main" val="1179244421"/>
                    </a:ext>
                  </a:extLst>
                </a:gridCol>
                <a:gridCol w="1080056">
                  <a:extLst>
                    <a:ext uri="{9D8B030D-6E8A-4147-A177-3AD203B41FA5}">
                      <a16:colId xmlns:a16="http://schemas.microsoft.com/office/drawing/2014/main" val="1257275978"/>
                    </a:ext>
                  </a:extLst>
                </a:gridCol>
              </a:tblGrid>
              <a:tr h="259833">
                <a:tc>
                  <a:txBody>
                    <a:bodyPr/>
                    <a:lstStyle/>
                    <a:p>
                      <a:pPr algn="ctr"/>
                      <a:r>
                        <a:rPr lang="en-BR" sz="1400" b="0" dirty="0"/>
                        <a:t>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BR" sz="1400" b="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4760961"/>
                  </a:ext>
                </a:extLst>
              </a:tr>
              <a:tr h="259833">
                <a:tc>
                  <a:txBody>
                    <a:bodyPr/>
                    <a:lstStyle/>
                    <a:p>
                      <a:pPr algn="ctr"/>
                      <a:r>
                        <a:rPr lang="en-BR" sz="1400" b="0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BR" sz="1400" b="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3660099"/>
                  </a:ext>
                </a:extLst>
              </a:tr>
              <a:tr h="259833">
                <a:tc>
                  <a:txBody>
                    <a:bodyPr/>
                    <a:lstStyle/>
                    <a:p>
                      <a:pPr algn="ctr"/>
                      <a:r>
                        <a:rPr lang="en-BR" sz="1400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BR" sz="1400" b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2179902"/>
                  </a:ext>
                </a:extLst>
              </a:tr>
              <a:tr h="259833">
                <a:tc>
                  <a:txBody>
                    <a:bodyPr/>
                    <a:lstStyle/>
                    <a:p>
                      <a:pPr algn="ctr"/>
                      <a:r>
                        <a:rPr lang="en-BR" sz="1400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BR" sz="1400" b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6751332"/>
                  </a:ext>
                </a:extLst>
              </a:tr>
              <a:tr h="259833">
                <a:tc>
                  <a:txBody>
                    <a:bodyPr/>
                    <a:lstStyle/>
                    <a:p>
                      <a:pPr algn="ctr"/>
                      <a:r>
                        <a:rPr lang="en-BR" sz="1400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BR" sz="1400" b="0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2282600"/>
                  </a:ext>
                </a:extLst>
              </a:tr>
              <a:tr h="259833">
                <a:tc>
                  <a:txBody>
                    <a:bodyPr/>
                    <a:lstStyle/>
                    <a:p>
                      <a:pPr algn="ctr"/>
                      <a:r>
                        <a:rPr lang="en-BR" sz="1400" b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BR" sz="1400" b="0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288912"/>
                  </a:ext>
                </a:extLst>
              </a:tr>
              <a:tr h="259833">
                <a:tc>
                  <a:txBody>
                    <a:bodyPr/>
                    <a:lstStyle/>
                    <a:p>
                      <a:pPr algn="ctr"/>
                      <a:endParaRPr lang="en-BR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BR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6490137"/>
                  </a:ext>
                </a:extLst>
              </a:tr>
            </a:tbl>
          </a:graphicData>
        </a:graphic>
      </p:graphicFrame>
      <p:sp>
        <p:nvSpPr>
          <p:cNvPr id="31" name="Oval 30">
            <a:extLst>
              <a:ext uri="{FF2B5EF4-FFF2-40B4-BE49-F238E27FC236}">
                <a16:creationId xmlns:a16="http://schemas.microsoft.com/office/drawing/2014/main" id="{0AEFB199-963A-A35B-6F76-867AEB41C4BC}"/>
              </a:ext>
            </a:extLst>
          </p:cNvPr>
          <p:cNvSpPr/>
          <p:nvPr/>
        </p:nvSpPr>
        <p:spPr>
          <a:xfrm>
            <a:off x="684000" y="2970000"/>
            <a:ext cx="62175" cy="62175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1F774717-9CA4-568E-A542-0D3DFDDC41DB}"/>
              </a:ext>
            </a:extLst>
          </p:cNvPr>
          <p:cNvSpPr/>
          <p:nvPr/>
        </p:nvSpPr>
        <p:spPr>
          <a:xfrm>
            <a:off x="7774814" y="2367194"/>
            <a:ext cx="62175" cy="62175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FD84EC57-A12D-A095-6321-BA90BA936B7E}"/>
              </a:ext>
            </a:extLst>
          </p:cNvPr>
          <p:cNvSpPr/>
          <p:nvPr/>
        </p:nvSpPr>
        <p:spPr>
          <a:xfrm>
            <a:off x="7774814" y="2668597"/>
            <a:ext cx="62175" cy="62175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FD1E144E-DF69-DE77-C476-C729D594E9FD}"/>
              </a:ext>
            </a:extLst>
          </p:cNvPr>
          <p:cNvSpPr/>
          <p:nvPr/>
        </p:nvSpPr>
        <p:spPr>
          <a:xfrm>
            <a:off x="552389" y="2970929"/>
            <a:ext cx="60070" cy="60070"/>
          </a:xfrm>
          <a:prstGeom prst="rect">
            <a:avLst/>
          </a:prstGeom>
          <a:solidFill>
            <a:srgbClr val="E97132"/>
          </a:solidFill>
          <a:ln>
            <a:solidFill>
              <a:srgbClr val="E9713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/>
          </a:p>
        </p:txBody>
      </p:sp>
      <p:sp>
        <p:nvSpPr>
          <p:cNvPr id="41" name="Triangle 40">
            <a:extLst>
              <a:ext uri="{FF2B5EF4-FFF2-40B4-BE49-F238E27FC236}">
                <a16:creationId xmlns:a16="http://schemas.microsoft.com/office/drawing/2014/main" id="{2E70438D-5CB7-9D3B-83AF-48EEBE2B7F82}"/>
              </a:ext>
            </a:extLst>
          </p:cNvPr>
          <p:cNvSpPr/>
          <p:nvPr/>
        </p:nvSpPr>
        <p:spPr>
          <a:xfrm>
            <a:off x="415972" y="2970929"/>
            <a:ext cx="69681" cy="60070"/>
          </a:xfrm>
          <a:prstGeom prst="triangle">
            <a:avLst/>
          </a:prstGeom>
          <a:solidFill>
            <a:srgbClr val="E97132"/>
          </a:solidFill>
          <a:ln>
            <a:solidFill>
              <a:srgbClr val="E9713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AB05EDF9-3F63-4458-71C5-127A36E579C7}"/>
              </a:ext>
            </a:extLst>
          </p:cNvPr>
          <p:cNvSpPr/>
          <p:nvPr/>
        </p:nvSpPr>
        <p:spPr>
          <a:xfrm>
            <a:off x="3043025" y="2970000"/>
            <a:ext cx="62175" cy="62175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D7BDD235-61D4-86D0-4D98-21C68745B3D4}"/>
              </a:ext>
            </a:extLst>
          </p:cNvPr>
          <p:cNvSpPr/>
          <p:nvPr/>
        </p:nvSpPr>
        <p:spPr>
          <a:xfrm>
            <a:off x="2911414" y="2970929"/>
            <a:ext cx="60070" cy="60070"/>
          </a:xfrm>
          <a:prstGeom prst="rect">
            <a:avLst/>
          </a:prstGeom>
          <a:solidFill>
            <a:srgbClr val="E97132"/>
          </a:solidFill>
          <a:ln>
            <a:solidFill>
              <a:srgbClr val="E9713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/>
          </a:p>
        </p:txBody>
      </p:sp>
      <p:sp>
        <p:nvSpPr>
          <p:cNvPr id="44" name="Triangle 43">
            <a:extLst>
              <a:ext uri="{FF2B5EF4-FFF2-40B4-BE49-F238E27FC236}">
                <a16:creationId xmlns:a16="http://schemas.microsoft.com/office/drawing/2014/main" id="{05C5D5D8-72BF-353A-A336-3D834CD75806}"/>
              </a:ext>
            </a:extLst>
          </p:cNvPr>
          <p:cNvSpPr/>
          <p:nvPr/>
        </p:nvSpPr>
        <p:spPr>
          <a:xfrm>
            <a:off x="2774997" y="2970929"/>
            <a:ext cx="69681" cy="60070"/>
          </a:xfrm>
          <a:prstGeom prst="triangle">
            <a:avLst/>
          </a:prstGeom>
          <a:solidFill>
            <a:srgbClr val="E97132"/>
          </a:solidFill>
          <a:ln>
            <a:solidFill>
              <a:srgbClr val="E9713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94006EDB-887D-8C74-4C47-7D1DCB611DDE}"/>
              </a:ext>
            </a:extLst>
          </p:cNvPr>
          <p:cNvSpPr/>
          <p:nvPr/>
        </p:nvSpPr>
        <p:spPr>
          <a:xfrm>
            <a:off x="5411575" y="2970000"/>
            <a:ext cx="62175" cy="62175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/>
          </a:p>
        </p:txBody>
      </p:sp>
      <p:sp>
        <p:nvSpPr>
          <p:cNvPr id="47" name="Triangle 46">
            <a:extLst>
              <a:ext uri="{FF2B5EF4-FFF2-40B4-BE49-F238E27FC236}">
                <a16:creationId xmlns:a16="http://schemas.microsoft.com/office/drawing/2014/main" id="{C98D67EB-51E2-AE75-1AD9-2CDDA3B36E06}"/>
              </a:ext>
            </a:extLst>
          </p:cNvPr>
          <p:cNvSpPr/>
          <p:nvPr/>
        </p:nvSpPr>
        <p:spPr>
          <a:xfrm>
            <a:off x="5275158" y="2970929"/>
            <a:ext cx="69681" cy="60070"/>
          </a:xfrm>
          <a:prstGeom prst="triangle">
            <a:avLst/>
          </a:prstGeom>
          <a:solidFill>
            <a:srgbClr val="E97132"/>
          </a:solidFill>
          <a:ln>
            <a:solidFill>
              <a:srgbClr val="E9713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9B87D97A-DB00-00EC-1868-973F8CFD2660}"/>
              </a:ext>
            </a:extLst>
          </p:cNvPr>
          <p:cNvSpPr/>
          <p:nvPr/>
        </p:nvSpPr>
        <p:spPr>
          <a:xfrm>
            <a:off x="7772864" y="2045769"/>
            <a:ext cx="62175" cy="62175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 dirty="0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72800C58-5802-2774-D06B-B70FEDD76AB3}"/>
              </a:ext>
            </a:extLst>
          </p:cNvPr>
          <p:cNvSpPr/>
          <p:nvPr/>
        </p:nvSpPr>
        <p:spPr>
          <a:xfrm>
            <a:off x="7772864" y="1751040"/>
            <a:ext cx="62175" cy="62175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8A178BD8-6DC7-4306-C2E9-E8AD045C422F}"/>
              </a:ext>
            </a:extLst>
          </p:cNvPr>
          <p:cNvSpPr/>
          <p:nvPr/>
        </p:nvSpPr>
        <p:spPr>
          <a:xfrm>
            <a:off x="7772864" y="1442963"/>
            <a:ext cx="62175" cy="62175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403B2FC4-68A7-6DB0-9D8E-FE107843A933}"/>
              </a:ext>
            </a:extLst>
          </p:cNvPr>
          <p:cNvSpPr/>
          <p:nvPr/>
        </p:nvSpPr>
        <p:spPr>
          <a:xfrm>
            <a:off x="7641254" y="2672602"/>
            <a:ext cx="60070" cy="60070"/>
          </a:xfrm>
          <a:prstGeom prst="rect">
            <a:avLst/>
          </a:prstGeom>
          <a:solidFill>
            <a:srgbClr val="E97132"/>
          </a:solidFill>
          <a:ln>
            <a:solidFill>
              <a:srgbClr val="E9713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2588B847-0025-C134-F03C-FDCDDFB93795}"/>
              </a:ext>
            </a:extLst>
          </p:cNvPr>
          <p:cNvSpPr/>
          <p:nvPr/>
        </p:nvSpPr>
        <p:spPr>
          <a:xfrm>
            <a:off x="7641254" y="2367194"/>
            <a:ext cx="60070" cy="60070"/>
          </a:xfrm>
          <a:prstGeom prst="rect">
            <a:avLst/>
          </a:prstGeom>
          <a:solidFill>
            <a:srgbClr val="E97132"/>
          </a:solidFill>
          <a:ln>
            <a:solidFill>
              <a:srgbClr val="E9713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C71EE9E6-141F-6746-9EC0-E7BE1A2309D8}"/>
              </a:ext>
            </a:extLst>
          </p:cNvPr>
          <p:cNvSpPr/>
          <p:nvPr/>
        </p:nvSpPr>
        <p:spPr>
          <a:xfrm>
            <a:off x="7641254" y="2048845"/>
            <a:ext cx="60070" cy="60070"/>
          </a:xfrm>
          <a:prstGeom prst="rect">
            <a:avLst/>
          </a:prstGeom>
          <a:solidFill>
            <a:srgbClr val="E97132"/>
          </a:solidFill>
          <a:ln>
            <a:solidFill>
              <a:srgbClr val="E9713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ED317F54-E202-15F1-434C-849FD021C201}"/>
              </a:ext>
            </a:extLst>
          </p:cNvPr>
          <p:cNvSpPr/>
          <p:nvPr/>
        </p:nvSpPr>
        <p:spPr>
          <a:xfrm>
            <a:off x="5413680" y="2670702"/>
            <a:ext cx="60070" cy="60070"/>
          </a:xfrm>
          <a:prstGeom prst="rect">
            <a:avLst/>
          </a:prstGeom>
          <a:solidFill>
            <a:srgbClr val="E97132"/>
          </a:solidFill>
          <a:ln>
            <a:solidFill>
              <a:srgbClr val="E9713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953ED6B-14DC-AF7D-0FB2-CFE418A6701F}"/>
              </a:ext>
            </a:extLst>
          </p:cNvPr>
          <p:cNvSpPr txBox="1"/>
          <p:nvPr/>
        </p:nvSpPr>
        <p:spPr>
          <a:xfrm>
            <a:off x="1409569" y="86321"/>
            <a:ext cx="189425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>
                    <a:lumMod val="50000"/>
                  </a:schemeClr>
                </a:solidFill>
              </a:rPr>
              <a:t>For BIP39 mnemonic (1-2048):</a:t>
            </a:r>
          </a:p>
          <a:p>
            <a:r>
              <a:rPr lang="en-US" sz="1000" dirty="0">
                <a:solidFill>
                  <a:schemeClr val="bg1">
                    <a:lumMod val="50000"/>
                  </a:schemeClr>
                </a:solidFill>
              </a:rPr>
              <a:t>If you see 4 Ks (zero), discard </a:t>
            </a:r>
          </a:p>
          <a:p>
            <a:r>
              <a:rPr lang="en-US" sz="1000" dirty="0">
                <a:solidFill>
                  <a:schemeClr val="bg1">
                    <a:lumMod val="50000"/>
                  </a:schemeClr>
                </a:solidFill>
              </a:rPr>
              <a:t>if you see 3 triangles, discard</a:t>
            </a:r>
          </a:p>
          <a:p>
            <a:r>
              <a:rPr lang="en-US" sz="1000" dirty="0">
                <a:solidFill>
                  <a:schemeClr val="bg1">
                    <a:lumMod val="50000"/>
                  </a:schemeClr>
                </a:solidFill>
              </a:rPr>
              <a:t>if you see 4 squares, discard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A06E7F97-96EC-F340-84B7-2BBCAE934198}"/>
              </a:ext>
            </a:extLst>
          </p:cNvPr>
          <p:cNvSpPr txBox="1"/>
          <p:nvPr/>
        </p:nvSpPr>
        <p:spPr>
          <a:xfrm>
            <a:off x="6596309" y="138179"/>
            <a:ext cx="15524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>
                    <a:lumMod val="50000"/>
                  </a:schemeClr>
                </a:solidFill>
              </a:rPr>
              <a:t>For </a:t>
            </a:r>
            <a:r>
              <a:rPr lang="en-US" sz="1000" dirty="0" err="1">
                <a:solidFill>
                  <a:schemeClr val="bg1">
                    <a:lumMod val="50000"/>
                  </a:schemeClr>
                </a:solidFill>
              </a:rPr>
              <a:t>DuraShare</a:t>
            </a:r>
            <a:r>
              <a:rPr lang="en-US" sz="1000" dirty="0">
                <a:solidFill>
                  <a:schemeClr val="bg1">
                    <a:lumMod val="50000"/>
                  </a:schemeClr>
                </a:solidFill>
              </a:rPr>
              <a:t> (0-2052): </a:t>
            </a:r>
          </a:p>
          <a:p>
            <a:r>
              <a:rPr lang="en-US" sz="1000" dirty="0">
                <a:solidFill>
                  <a:schemeClr val="bg1">
                    <a:lumMod val="50000"/>
                  </a:schemeClr>
                </a:solidFill>
              </a:rPr>
              <a:t>if you see 4 dots, discard</a:t>
            </a:r>
          </a:p>
        </p:txBody>
      </p:sp>
    </p:spTree>
    <p:extLst>
      <p:ext uri="{BB962C8B-B14F-4D97-AF65-F5344CB8AC3E}">
        <p14:creationId xmlns:p14="http://schemas.microsoft.com/office/powerpoint/2010/main" val="9696031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12427</TotalTime>
  <Words>193</Words>
  <Application>Microsoft Macintosh PowerPoint</Application>
  <PresentationFormat>A4 Paper (210x297 mm)</PresentationFormat>
  <Paragraphs>76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Renato Schiavinato Lopez</dc:creator>
  <cp:lastModifiedBy>Renato Schiavinato Lopez</cp:lastModifiedBy>
  <cp:revision>47</cp:revision>
  <cp:lastPrinted>2026-09-03T15:05:00Z</cp:lastPrinted>
  <dcterms:created xsi:type="dcterms:W3CDTF">2025-12-07T22:50:14Z</dcterms:created>
  <dcterms:modified xsi:type="dcterms:W3CDTF">2026-10-03T00:04:29Z</dcterms:modified>
</cp:coreProperties>
</file>
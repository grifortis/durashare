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7"/>
  </p:notesMasterIdLst>
  <p:sldIdLst>
    <p:sldId id="264" r:id="rId2"/>
    <p:sldId id="265" r:id="rId3"/>
    <p:sldId id="266" r:id="rId4"/>
    <p:sldId id="267" r:id="rId5"/>
    <p:sldId id="268" r:id="rId6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7132"/>
    <a:srgbClr val="A02A93"/>
    <a:srgbClr val="4EA72E"/>
    <a:srgbClr val="0F9ED5"/>
    <a:srgbClr val="FBF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89"/>
    <p:restoredTop sz="95296"/>
  </p:normalViewPr>
  <p:slideViewPr>
    <p:cSldViewPr snapToGrid="0">
      <p:cViewPr varScale="1">
        <p:scale>
          <a:sx n="142" d="100"/>
          <a:sy n="142" d="100"/>
        </p:scale>
        <p:origin x="6728" y="184"/>
      </p:cViewPr>
      <p:guideLst>
        <p:guide orient="horz" pos="3120"/>
        <p:guide pos="2160"/>
      </p:guideLst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7A1A1E-9FB4-C942-83F2-2E882B02486B}" type="datetimeFigureOut">
              <a:rPr lang="en-BR" smtClean="0"/>
              <a:t>06/10/26</a:t>
            </a:fld>
            <a:endParaRPr lang="en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E819C9-7153-B14B-B279-2EA491EAB301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659402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E819C9-7153-B14B-B279-2EA491EAB301}" type="slidenum">
              <a:rPr lang="en-BR" smtClean="0"/>
              <a:t>1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9137114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E819C9-7153-B14B-B279-2EA491EAB301}" type="slidenum">
              <a:rPr lang="en-BR" smtClean="0"/>
              <a:t>2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8090694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E819C9-7153-B14B-B279-2EA491EAB301}" type="slidenum">
              <a:rPr lang="en-BR" smtClean="0"/>
              <a:t>3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6955666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E819C9-7153-B14B-B279-2EA491EAB301}" type="slidenum">
              <a:rPr lang="en-BR" smtClean="0"/>
              <a:t>4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5137865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E819C9-7153-B14B-B279-2EA491EAB301}" type="slidenum">
              <a:rPr lang="en-BR" smtClean="0"/>
              <a:t>5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502175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024E4-3450-1046-AE64-B43B46F2996A}" type="datetime1">
              <a:rPr lang="en-US" smtClean="0"/>
              <a:t>10/6/26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574329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4AA9B-F3A6-4F48-BD85-6A6B912EC266}" type="datetime1">
              <a:rPr lang="en-US" smtClean="0"/>
              <a:t>10/6/26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059652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04EE2-7F41-7042-B8C8-244FFACED51B}" type="datetime1">
              <a:rPr lang="en-US" smtClean="0"/>
              <a:t>10/6/26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320706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AD08F-87E3-6540-8174-C4C0400AEFD8}" type="datetime1">
              <a:rPr lang="en-US" smtClean="0"/>
              <a:t>10/6/26</a:t>
            </a:fld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667980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540E6-6DFF-B44E-87E6-2292B84E18B6}" type="datetime1">
              <a:rPr lang="en-US" smtClean="0"/>
              <a:t>10/6/26</a:t>
            </a:fld>
            <a:endParaRPr lang="en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86391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9C164-A73D-0746-BC60-0B7DB9F0D311}" type="datetime1">
              <a:rPr lang="en-US" smtClean="0"/>
              <a:t>10/6/26</a:t>
            </a:fld>
            <a:endParaRPr lang="en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28289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3341A-C547-5442-B12A-0B5A50B11DC1}" type="datetime1">
              <a:rPr lang="en-US" smtClean="0"/>
              <a:t>10/6/26</a:t>
            </a:fld>
            <a:endParaRPr lang="en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815771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2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D2694-40D9-E741-A72D-E99892AFD2F2}" type="datetime1">
              <a:rPr lang="en-US" smtClean="0"/>
              <a:t>10/6/26</a:t>
            </a:fld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776749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2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CB594-C7C0-3742-B41F-E1BF6F153843}" type="datetime1">
              <a:rPr lang="en-US" smtClean="0"/>
              <a:t>10/6/26</a:t>
            </a:fld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297494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824CC-A669-5F43-9B46-C7099D091F19}" type="datetime1">
              <a:rPr lang="en-US" smtClean="0"/>
              <a:t>10/6/26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84689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7C900-83D4-C64B-86FB-0326E0E513F9}" type="datetime1">
              <a:rPr lang="en-US" smtClean="0"/>
              <a:t>10/6/26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053305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946F12-8C20-404E-A113-F20F2E247EA2}" type="datetime1">
              <a:rPr lang="en-US" smtClean="0"/>
              <a:t>10/6/26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608907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>
            <a:extLst>
              <a:ext uri="{FF2B5EF4-FFF2-40B4-BE49-F238E27FC236}">
                <a16:creationId xmlns:a16="http://schemas.microsoft.com/office/drawing/2014/main" id="{0CF6709C-2CA8-50AD-61B1-052525D696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677" t="13073" r="73757" b="60369"/>
          <a:stretch>
            <a:fillRect/>
          </a:stretch>
        </p:blipFill>
        <p:spPr>
          <a:xfrm>
            <a:off x="4872748" y="7470595"/>
            <a:ext cx="1839391" cy="1865268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1294F31-A448-A375-E819-A92AA37337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677" t="13073" r="73757" b="60369"/>
          <a:stretch>
            <a:fillRect/>
          </a:stretch>
        </p:blipFill>
        <p:spPr>
          <a:xfrm>
            <a:off x="4872748" y="2429246"/>
            <a:ext cx="1839391" cy="1865268"/>
          </a:xfrm>
          <a:prstGeom prst="rect">
            <a:avLst/>
          </a:prstGeom>
        </p:spPr>
      </p:pic>
      <p:sp>
        <p:nvSpPr>
          <p:cNvPr id="97" name="TextBox 96">
            <a:extLst>
              <a:ext uri="{FF2B5EF4-FFF2-40B4-BE49-F238E27FC236}">
                <a16:creationId xmlns:a16="http://schemas.microsoft.com/office/drawing/2014/main" id="{036FE7E6-1085-427A-2A06-1655A56B683B}"/>
              </a:ext>
            </a:extLst>
          </p:cNvPr>
          <p:cNvSpPr txBox="1"/>
          <p:nvPr/>
        </p:nvSpPr>
        <p:spPr>
          <a:xfrm>
            <a:off x="309150" y="95940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W1.S1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0DA1DA7C-AE1D-E424-C375-A3FD894B28AD}"/>
              </a:ext>
            </a:extLst>
          </p:cNvPr>
          <p:cNvSpPr/>
          <p:nvPr/>
        </p:nvSpPr>
        <p:spPr>
          <a:xfrm>
            <a:off x="309150" y="1157400"/>
            <a:ext cx="864539" cy="359243"/>
          </a:xfrm>
          <a:prstGeom prst="rect">
            <a:avLst/>
          </a:prstGeom>
          <a:noFill/>
          <a:ln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6" name="Picture 65" descr="A logo of a griffin&#10;&#10;AI-generated content may be incorrect.">
            <a:extLst>
              <a:ext uri="{FF2B5EF4-FFF2-40B4-BE49-F238E27FC236}">
                <a16:creationId xmlns:a16="http://schemas.microsoft.com/office/drawing/2014/main" id="{731AA023-C156-A0F4-FC54-937EE91008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856" y="199303"/>
            <a:ext cx="544198" cy="544198"/>
          </a:xfrm>
          <a:prstGeom prst="rect">
            <a:avLst/>
          </a:prstGeom>
          <a:noFill/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4AF5064-C36B-9B3E-A23F-2816D75C152F}"/>
              </a:ext>
            </a:extLst>
          </p:cNvPr>
          <p:cNvSpPr txBox="1"/>
          <p:nvPr/>
        </p:nvSpPr>
        <p:spPr>
          <a:xfrm>
            <a:off x="187340" y="146199"/>
            <a:ext cx="5921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TOP SECRET!</a:t>
            </a:r>
            <a:r>
              <a:rPr lang="en-US" noProof="0" dirty="0"/>
              <a:t>  </a:t>
            </a:r>
            <a:r>
              <a:rPr lang="en-US" noProof="0" dirty="0" err="1"/>
              <a:t>DuraShare</a:t>
            </a:r>
            <a:r>
              <a:rPr lang="en-US" noProof="0" dirty="0"/>
              <a:t> – </a:t>
            </a:r>
            <a:r>
              <a:rPr lang="en-US" dirty="0"/>
              <a:t>3-of-5 TABConf8 – </a:t>
            </a:r>
            <a:r>
              <a:rPr lang="en-US" b="1" dirty="0"/>
              <a:t>Share 1 (S1)</a:t>
            </a:r>
            <a:endParaRPr lang="en-US" b="1" noProof="0" dirty="0">
              <a:solidFill>
                <a:srgbClr val="FF0000"/>
              </a:solidFill>
            </a:endParaRP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3B5DB734-3DAB-E4BD-C051-EC7D8BE1E654}"/>
              </a:ext>
            </a:extLst>
          </p:cNvPr>
          <p:cNvCxnSpPr>
            <a:cxnSpLocks/>
          </p:cNvCxnSpPr>
          <p:nvPr/>
        </p:nvCxnSpPr>
        <p:spPr>
          <a:xfrm>
            <a:off x="309150" y="1751626"/>
            <a:ext cx="881301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19" name="TextBox 518">
            <a:extLst>
              <a:ext uri="{FF2B5EF4-FFF2-40B4-BE49-F238E27FC236}">
                <a16:creationId xmlns:a16="http://schemas.microsoft.com/office/drawing/2014/main" id="{AD7ED372-D0ED-2FA0-17FD-C6E6FD8E428B}"/>
              </a:ext>
            </a:extLst>
          </p:cNvPr>
          <p:cNvSpPr txBox="1"/>
          <p:nvPr/>
        </p:nvSpPr>
        <p:spPr>
          <a:xfrm>
            <a:off x="1493550" y="95940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W2.S1</a:t>
            </a:r>
          </a:p>
        </p:txBody>
      </p:sp>
      <p:sp>
        <p:nvSpPr>
          <p:cNvPr id="520" name="Rectangle 519">
            <a:extLst>
              <a:ext uri="{FF2B5EF4-FFF2-40B4-BE49-F238E27FC236}">
                <a16:creationId xmlns:a16="http://schemas.microsoft.com/office/drawing/2014/main" id="{042680D3-9EDF-CDF9-F955-C9A9127F48B6}"/>
              </a:ext>
            </a:extLst>
          </p:cNvPr>
          <p:cNvSpPr/>
          <p:nvPr/>
        </p:nvSpPr>
        <p:spPr>
          <a:xfrm>
            <a:off x="1493550" y="1157400"/>
            <a:ext cx="864539" cy="359243"/>
          </a:xfrm>
          <a:prstGeom prst="rect">
            <a:avLst/>
          </a:prstGeom>
          <a:noFill/>
          <a:ln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21" name="Straight Connector 520">
            <a:extLst>
              <a:ext uri="{FF2B5EF4-FFF2-40B4-BE49-F238E27FC236}">
                <a16:creationId xmlns:a16="http://schemas.microsoft.com/office/drawing/2014/main" id="{12D48BC3-0F87-F0C7-7DE5-58145F0CEB76}"/>
              </a:ext>
            </a:extLst>
          </p:cNvPr>
          <p:cNvCxnSpPr>
            <a:cxnSpLocks/>
          </p:cNvCxnSpPr>
          <p:nvPr/>
        </p:nvCxnSpPr>
        <p:spPr>
          <a:xfrm>
            <a:off x="1493550" y="1751626"/>
            <a:ext cx="881301" cy="0"/>
          </a:xfrm>
          <a:prstGeom prst="line">
            <a:avLst/>
          </a:prstGeom>
          <a:ln w="9525"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43" name="TextBox 342">
            <a:extLst>
              <a:ext uri="{FF2B5EF4-FFF2-40B4-BE49-F238E27FC236}">
                <a16:creationId xmlns:a16="http://schemas.microsoft.com/office/drawing/2014/main" id="{77BBB1C2-46B8-5847-BA13-400DABF999F2}"/>
              </a:ext>
            </a:extLst>
          </p:cNvPr>
          <p:cNvSpPr txBox="1"/>
          <p:nvPr/>
        </p:nvSpPr>
        <p:spPr>
          <a:xfrm>
            <a:off x="2677950" y="95940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W3.S1</a:t>
            </a:r>
          </a:p>
        </p:txBody>
      </p:sp>
      <p:sp>
        <p:nvSpPr>
          <p:cNvPr id="344" name="Rectangle 343">
            <a:extLst>
              <a:ext uri="{FF2B5EF4-FFF2-40B4-BE49-F238E27FC236}">
                <a16:creationId xmlns:a16="http://schemas.microsoft.com/office/drawing/2014/main" id="{38AD03C9-AF0D-F736-B726-8CE960437676}"/>
              </a:ext>
            </a:extLst>
          </p:cNvPr>
          <p:cNvSpPr/>
          <p:nvPr/>
        </p:nvSpPr>
        <p:spPr>
          <a:xfrm>
            <a:off x="2677950" y="1157400"/>
            <a:ext cx="864539" cy="359243"/>
          </a:xfrm>
          <a:prstGeom prst="rect">
            <a:avLst/>
          </a:prstGeom>
          <a:noFill/>
          <a:ln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6DFC46D1-CE2F-EC8E-59D0-5824909B2C44}"/>
              </a:ext>
            </a:extLst>
          </p:cNvPr>
          <p:cNvCxnSpPr>
            <a:cxnSpLocks/>
          </p:cNvCxnSpPr>
          <p:nvPr/>
        </p:nvCxnSpPr>
        <p:spPr>
          <a:xfrm>
            <a:off x="2677950" y="1751626"/>
            <a:ext cx="881301" cy="0"/>
          </a:xfrm>
          <a:prstGeom prst="line">
            <a:avLst/>
          </a:prstGeom>
          <a:ln w="9525"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24" name="TextBox 423">
            <a:extLst>
              <a:ext uri="{FF2B5EF4-FFF2-40B4-BE49-F238E27FC236}">
                <a16:creationId xmlns:a16="http://schemas.microsoft.com/office/drawing/2014/main" id="{A88A4D25-3AE1-B029-C525-B7B79C437892}"/>
              </a:ext>
            </a:extLst>
          </p:cNvPr>
          <p:cNvSpPr txBox="1"/>
          <p:nvPr/>
        </p:nvSpPr>
        <p:spPr>
          <a:xfrm>
            <a:off x="3862350" y="95940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R1.S1</a:t>
            </a:r>
          </a:p>
        </p:txBody>
      </p:sp>
      <p:sp>
        <p:nvSpPr>
          <p:cNvPr id="425" name="Rectangle 424">
            <a:extLst>
              <a:ext uri="{FF2B5EF4-FFF2-40B4-BE49-F238E27FC236}">
                <a16:creationId xmlns:a16="http://schemas.microsoft.com/office/drawing/2014/main" id="{A58DB5F0-E975-6F2A-9B59-07EDE76A782B}"/>
              </a:ext>
            </a:extLst>
          </p:cNvPr>
          <p:cNvSpPr/>
          <p:nvPr/>
        </p:nvSpPr>
        <p:spPr>
          <a:xfrm>
            <a:off x="3862350" y="1157400"/>
            <a:ext cx="864539" cy="359243"/>
          </a:xfrm>
          <a:prstGeom prst="rect">
            <a:avLst/>
          </a:prstGeom>
          <a:noFill/>
          <a:ln>
            <a:solidFill>
              <a:srgbClr val="A02A93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26" name="Straight Connector 425">
            <a:extLst>
              <a:ext uri="{FF2B5EF4-FFF2-40B4-BE49-F238E27FC236}">
                <a16:creationId xmlns:a16="http://schemas.microsoft.com/office/drawing/2014/main" id="{C585986E-DEB4-3858-07BC-2783AA86452A}"/>
              </a:ext>
            </a:extLst>
          </p:cNvPr>
          <p:cNvCxnSpPr>
            <a:cxnSpLocks/>
          </p:cNvCxnSpPr>
          <p:nvPr/>
        </p:nvCxnSpPr>
        <p:spPr>
          <a:xfrm>
            <a:off x="3862350" y="1751626"/>
            <a:ext cx="881301" cy="0"/>
          </a:xfrm>
          <a:prstGeom prst="line">
            <a:avLst/>
          </a:prstGeom>
          <a:ln w="9525">
            <a:solidFill>
              <a:srgbClr val="A02A93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04" name="TextBox 703">
            <a:extLst>
              <a:ext uri="{FF2B5EF4-FFF2-40B4-BE49-F238E27FC236}">
                <a16:creationId xmlns:a16="http://schemas.microsoft.com/office/drawing/2014/main" id="{8983B472-727E-1058-87A2-3F5F7DB073EC}"/>
              </a:ext>
            </a:extLst>
          </p:cNvPr>
          <p:cNvSpPr txBox="1"/>
          <p:nvPr/>
        </p:nvSpPr>
        <p:spPr>
          <a:xfrm>
            <a:off x="5046750" y="95940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MA1.S1</a:t>
            </a:r>
          </a:p>
        </p:txBody>
      </p:sp>
      <p:sp>
        <p:nvSpPr>
          <p:cNvPr id="705" name="Rectangle 704">
            <a:extLst>
              <a:ext uri="{FF2B5EF4-FFF2-40B4-BE49-F238E27FC236}">
                <a16:creationId xmlns:a16="http://schemas.microsoft.com/office/drawing/2014/main" id="{19008F83-EF8C-F70A-8423-0BA031808573}"/>
              </a:ext>
            </a:extLst>
          </p:cNvPr>
          <p:cNvSpPr/>
          <p:nvPr/>
        </p:nvSpPr>
        <p:spPr>
          <a:xfrm>
            <a:off x="5046750" y="115740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28" name="TextBox 727">
            <a:extLst>
              <a:ext uri="{FF2B5EF4-FFF2-40B4-BE49-F238E27FC236}">
                <a16:creationId xmlns:a16="http://schemas.microsoft.com/office/drawing/2014/main" id="{76224589-00BD-64F8-724D-D369C28DD161}"/>
              </a:ext>
            </a:extLst>
          </p:cNvPr>
          <p:cNvSpPr txBox="1"/>
          <p:nvPr/>
        </p:nvSpPr>
        <p:spPr>
          <a:xfrm>
            <a:off x="5939550" y="959400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MB1.S1</a:t>
            </a:r>
          </a:p>
        </p:txBody>
      </p:sp>
      <p:sp>
        <p:nvSpPr>
          <p:cNvPr id="729" name="Rectangle 728">
            <a:extLst>
              <a:ext uri="{FF2B5EF4-FFF2-40B4-BE49-F238E27FC236}">
                <a16:creationId xmlns:a16="http://schemas.microsoft.com/office/drawing/2014/main" id="{DF69A9A0-03B2-61F7-70B4-5B21B9D3ABFD}"/>
              </a:ext>
            </a:extLst>
          </p:cNvPr>
          <p:cNvSpPr/>
          <p:nvPr/>
        </p:nvSpPr>
        <p:spPr>
          <a:xfrm>
            <a:off x="5939550" y="115740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94" name="TextBox 793">
            <a:extLst>
              <a:ext uri="{FF2B5EF4-FFF2-40B4-BE49-F238E27FC236}">
                <a16:creationId xmlns:a16="http://schemas.microsoft.com/office/drawing/2014/main" id="{E098860C-2A7A-9732-9D40-8A68B6289582}"/>
              </a:ext>
            </a:extLst>
          </p:cNvPr>
          <p:cNvSpPr txBox="1"/>
          <p:nvPr/>
        </p:nvSpPr>
        <p:spPr>
          <a:xfrm>
            <a:off x="187340" y="611370"/>
            <a:ext cx="59215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Backup Name: _________________________________________ Creation Date:____________________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801" name="TextBox 800">
            <a:extLst>
              <a:ext uri="{FF2B5EF4-FFF2-40B4-BE49-F238E27FC236}">
                <a16:creationId xmlns:a16="http://schemas.microsoft.com/office/drawing/2014/main" id="{D7A653AF-73CA-E64E-93FC-C1E5770D0ACD}"/>
              </a:ext>
            </a:extLst>
          </p:cNvPr>
          <p:cNvSpPr txBox="1"/>
          <p:nvPr/>
        </p:nvSpPr>
        <p:spPr>
          <a:xfrm>
            <a:off x="309150" y="864150"/>
            <a:ext cx="8645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100</a:t>
            </a:r>
            <a:endParaRPr lang="en-US" sz="800" b="1" noProof="0" dirty="0">
              <a:solidFill>
                <a:srgbClr val="FF0000"/>
              </a:solidFill>
            </a:endParaRPr>
          </a:p>
        </p:txBody>
      </p:sp>
      <p:sp>
        <p:nvSpPr>
          <p:cNvPr id="802" name="TextBox 801">
            <a:extLst>
              <a:ext uri="{FF2B5EF4-FFF2-40B4-BE49-F238E27FC236}">
                <a16:creationId xmlns:a16="http://schemas.microsoft.com/office/drawing/2014/main" id="{9574059C-E376-7582-0EE0-B538EBC6E7CD}"/>
              </a:ext>
            </a:extLst>
          </p:cNvPr>
          <p:cNvSpPr txBox="1"/>
          <p:nvPr/>
        </p:nvSpPr>
        <p:spPr>
          <a:xfrm>
            <a:off x="1493549" y="864150"/>
            <a:ext cx="8645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200</a:t>
            </a:r>
            <a:endParaRPr lang="en-US" sz="800" b="1" noProof="0" dirty="0">
              <a:solidFill>
                <a:srgbClr val="FF0000"/>
              </a:solidFill>
            </a:endParaRPr>
          </a:p>
        </p:txBody>
      </p:sp>
      <p:sp>
        <p:nvSpPr>
          <p:cNvPr id="803" name="TextBox 802">
            <a:extLst>
              <a:ext uri="{FF2B5EF4-FFF2-40B4-BE49-F238E27FC236}">
                <a16:creationId xmlns:a16="http://schemas.microsoft.com/office/drawing/2014/main" id="{BDC71D8C-A790-72F5-C080-62CAE919B02E}"/>
              </a:ext>
            </a:extLst>
          </p:cNvPr>
          <p:cNvSpPr txBox="1"/>
          <p:nvPr/>
        </p:nvSpPr>
        <p:spPr>
          <a:xfrm>
            <a:off x="2677681" y="864150"/>
            <a:ext cx="8645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300</a:t>
            </a:r>
            <a:endParaRPr lang="en-US" sz="800" b="1" noProof="0" dirty="0">
              <a:solidFill>
                <a:srgbClr val="FF0000"/>
              </a:solidFill>
            </a:endParaRPr>
          </a:p>
        </p:txBody>
      </p:sp>
      <p:sp>
        <p:nvSpPr>
          <p:cNvPr id="804" name="TextBox 803">
            <a:extLst>
              <a:ext uri="{FF2B5EF4-FFF2-40B4-BE49-F238E27FC236}">
                <a16:creationId xmlns:a16="http://schemas.microsoft.com/office/drawing/2014/main" id="{1CBBA368-7930-01B1-E1A4-97C695564CC4}"/>
              </a:ext>
            </a:extLst>
          </p:cNvPr>
          <p:cNvSpPr txBox="1"/>
          <p:nvPr/>
        </p:nvSpPr>
        <p:spPr>
          <a:xfrm>
            <a:off x="201150" y="1219073"/>
            <a:ext cx="923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1</a:t>
            </a:r>
            <a:endParaRPr lang="en-US" sz="800" b="1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2DB1CE-F4F4-092D-0028-0337F4994FC4}"/>
              </a:ext>
            </a:extLst>
          </p:cNvPr>
          <p:cNvSpPr txBox="1"/>
          <p:nvPr/>
        </p:nvSpPr>
        <p:spPr>
          <a:xfrm>
            <a:off x="201600" y="3361235"/>
            <a:ext cx="45252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Passphrase Hint:____________________________________________________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6AE8A9-2FCC-B1A7-112C-1F388AA641C4}"/>
              </a:ext>
            </a:extLst>
          </p:cNvPr>
          <p:cNvSpPr txBox="1"/>
          <p:nvPr/>
        </p:nvSpPr>
        <p:spPr>
          <a:xfrm>
            <a:off x="201599" y="3709471"/>
            <a:ext cx="4525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Recovery Verification Address:_______________________________________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D0D970-86AD-69FE-A38B-316C12CBD913}"/>
              </a:ext>
            </a:extLst>
          </p:cNvPr>
          <p:cNvSpPr txBox="1"/>
          <p:nvPr/>
        </p:nvSpPr>
        <p:spPr>
          <a:xfrm>
            <a:off x="201599" y="4049068"/>
            <a:ext cx="4525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BIP39 Language:______________ Session:_____________________________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327A38-1BD4-3266-3C7C-98D14DA0E946}"/>
              </a:ext>
            </a:extLst>
          </p:cNvPr>
          <p:cNvSpPr txBox="1"/>
          <p:nvPr/>
        </p:nvSpPr>
        <p:spPr>
          <a:xfrm>
            <a:off x="41291" y="4423993"/>
            <a:ext cx="6769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/>
              <a:t>© 2026 GRIFORTIS. </a:t>
            </a:r>
            <a:r>
              <a:rPr lang="en-US" sz="600" dirty="0"/>
              <a:t>Licensed under </a:t>
            </a:r>
            <a:r>
              <a:rPr lang="en-US" sz="600" b="1" dirty="0"/>
              <a:t>CC BY-NC-SA 4.0</a:t>
            </a:r>
            <a:r>
              <a:rPr lang="en-US" sz="600" dirty="0"/>
              <a:t> (Free for personal &amp; educational use). Underlying </a:t>
            </a:r>
            <a:r>
              <a:rPr lang="en-US" sz="600" dirty="0" err="1"/>
              <a:t>DuraShare</a:t>
            </a:r>
            <a:r>
              <a:rPr lang="en-US" sz="600" dirty="0"/>
              <a:t> protocol is Open Source. Provided "as is" without warranty. The user accepts full responsibility for the secure execution of the protocol. v0.7.1</a:t>
            </a:r>
            <a:endParaRPr lang="en-US" sz="600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4CF1FE-D4A2-F386-6056-321702EAFA68}"/>
              </a:ext>
            </a:extLst>
          </p:cNvPr>
          <p:cNvSpPr txBox="1"/>
          <p:nvPr/>
        </p:nvSpPr>
        <p:spPr>
          <a:xfrm>
            <a:off x="309150" y="599398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W1.S2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39D24B-A69C-0947-A7BD-9C607F806D67}"/>
              </a:ext>
            </a:extLst>
          </p:cNvPr>
          <p:cNvSpPr/>
          <p:nvPr/>
        </p:nvSpPr>
        <p:spPr>
          <a:xfrm>
            <a:off x="309150" y="6191980"/>
            <a:ext cx="864539" cy="35924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 descr="A logo of a griffin&#10;&#10;AI-generated content may be incorrect.">
            <a:extLst>
              <a:ext uri="{FF2B5EF4-FFF2-40B4-BE49-F238E27FC236}">
                <a16:creationId xmlns:a16="http://schemas.microsoft.com/office/drawing/2014/main" id="{C9FFC9DD-AA95-222F-F9E3-89A23333AB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856" y="5233883"/>
            <a:ext cx="544198" cy="544198"/>
          </a:xfrm>
          <a:prstGeom prst="rect">
            <a:avLst/>
          </a:prstGeom>
          <a:noFill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41F676A-342C-9628-AA84-9060907E904A}"/>
              </a:ext>
            </a:extLst>
          </p:cNvPr>
          <p:cNvSpPr txBox="1"/>
          <p:nvPr/>
        </p:nvSpPr>
        <p:spPr>
          <a:xfrm>
            <a:off x="187340" y="5180779"/>
            <a:ext cx="5921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TOP SECRET!</a:t>
            </a:r>
            <a:r>
              <a:rPr lang="en-US" noProof="0" dirty="0"/>
              <a:t>  </a:t>
            </a:r>
            <a:r>
              <a:rPr lang="en-US" noProof="0" dirty="0" err="1"/>
              <a:t>DuraShare</a:t>
            </a:r>
            <a:r>
              <a:rPr lang="en-US" noProof="0" dirty="0"/>
              <a:t> – </a:t>
            </a:r>
            <a:r>
              <a:rPr lang="en-US" dirty="0"/>
              <a:t>3-of-5 TABConf8 – </a:t>
            </a:r>
            <a:r>
              <a:rPr lang="en-US" b="1" dirty="0"/>
              <a:t>Share 2 (S2)</a:t>
            </a:r>
            <a:endParaRPr lang="en-US" b="1" noProof="0" dirty="0">
              <a:solidFill>
                <a:srgbClr val="FF0000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DA62579-379D-F642-BD9F-4DBB157B503C}"/>
              </a:ext>
            </a:extLst>
          </p:cNvPr>
          <p:cNvCxnSpPr>
            <a:cxnSpLocks/>
          </p:cNvCxnSpPr>
          <p:nvPr/>
        </p:nvCxnSpPr>
        <p:spPr>
          <a:xfrm>
            <a:off x="309150" y="6786206"/>
            <a:ext cx="881301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BEC92AC-BCEB-A415-0683-962D7729D4A6}"/>
              </a:ext>
            </a:extLst>
          </p:cNvPr>
          <p:cNvSpPr txBox="1"/>
          <p:nvPr/>
        </p:nvSpPr>
        <p:spPr>
          <a:xfrm>
            <a:off x="1493550" y="599398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W2.S2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9E72A2-4977-B6FB-C973-C3A5D39312ED}"/>
              </a:ext>
            </a:extLst>
          </p:cNvPr>
          <p:cNvSpPr/>
          <p:nvPr/>
        </p:nvSpPr>
        <p:spPr>
          <a:xfrm>
            <a:off x="1493550" y="6191980"/>
            <a:ext cx="864539" cy="359243"/>
          </a:xfrm>
          <a:prstGeom prst="rect">
            <a:avLst/>
          </a:prstGeom>
          <a:noFill/>
          <a:ln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81C0F7-4D09-3CA4-CC3D-27168C4790B8}"/>
              </a:ext>
            </a:extLst>
          </p:cNvPr>
          <p:cNvCxnSpPr>
            <a:cxnSpLocks/>
          </p:cNvCxnSpPr>
          <p:nvPr/>
        </p:nvCxnSpPr>
        <p:spPr>
          <a:xfrm>
            <a:off x="1493550" y="6786206"/>
            <a:ext cx="881301" cy="0"/>
          </a:xfrm>
          <a:prstGeom prst="line">
            <a:avLst/>
          </a:prstGeom>
          <a:ln w="9525"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09458E9-1B12-5DD9-45F6-A38503566895}"/>
              </a:ext>
            </a:extLst>
          </p:cNvPr>
          <p:cNvSpPr txBox="1"/>
          <p:nvPr/>
        </p:nvSpPr>
        <p:spPr>
          <a:xfrm>
            <a:off x="2677950" y="599398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W3.S2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B6EF512-2A85-E849-8654-F5EE605F36EE}"/>
              </a:ext>
            </a:extLst>
          </p:cNvPr>
          <p:cNvSpPr/>
          <p:nvPr/>
        </p:nvSpPr>
        <p:spPr>
          <a:xfrm>
            <a:off x="2677950" y="6191980"/>
            <a:ext cx="864539" cy="359243"/>
          </a:xfrm>
          <a:prstGeom prst="rect">
            <a:avLst/>
          </a:prstGeom>
          <a:noFill/>
          <a:ln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FD7CDA6-3F48-DDCE-EC73-C72650FBC523}"/>
              </a:ext>
            </a:extLst>
          </p:cNvPr>
          <p:cNvCxnSpPr>
            <a:cxnSpLocks/>
          </p:cNvCxnSpPr>
          <p:nvPr/>
        </p:nvCxnSpPr>
        <p:spPr>
          <a:xfrm>
            <a:off x="2677950" y="6786206"/>
            <a:ext cx="881301" cy="0"/>
          </a:xfrm>
          <a:prstGeom prst="line">
            <a:avLst/>
          </a:prstGeom>
          <a:ln w="9525"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C761D89-7D8A-8EEC-CF37-D5CF203202C9}"/>
              </a:ext>
            </a:extLst>
          </p:cNvPr>
          <p:cNvSpPr txBox="1"/>
          <p:nvPr/>
        </p:nvSpPr>
        <p:spPr>
          <a:xfrm>
            <a:off x="3862350" y="599398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R1.S2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8823D28-81F7-5143-5ED2-0A3C6E2B73B8}"/>
              </a:ext>
            </a:extLst>
          </p:cNvPr>
          <p:cNvSpPr/>
          <p:nvPr/>
        </p:nvSpPr>
        <p:spPr>
          <a:xfrm>
            <a:off x="3862350" y="6191980"/>
            <a:ext cx="864539" cy="359243"/>
          </a:xfrm>
          <a:prstGeom prst="rect">
            <a:avLst/>
          </a:prstGeom>
          <a:noFill/>
          <a:ln>
            <a:solidFill>
              <a:srgbClr val="A02A93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F632798-51CA-3BBA-42E5-A0E4565C6E1F}"/>
              </a:ext>
            </a:extLst>
          </p:cNvPr>
          <p:cNvCxnSpPr>
            <a:cxnSpLocks/>
          </p:cNvCxnSpPr>
          <p:nvPr/>
        </p:nvCxnSpPr>
        <p:spPr>
          <a:xfrm>
            <a:off x="3862350" y="6786206"/>
            <a:ext cx="881301" cy="0"/>
          </a:xfrm>
          <a:prstGeom prst="line">
            <a:avLst/>
          </a:prstGeom>
          <a:ln w="9525">
            <a:solidFill>
              <a:srgbClr val="A02A93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E013A81-E3C7-1CB6-0514-6BEDF82F6EEB}"/>
              </a:ext>
            </a:extLst>
          </p:cNvPr>
          <p:cNvSpPr txBox="1"/>
          <p:nvPr/>
        </p:nvSpPr>
        <p:spPr>
          <a:xfrm>
            <a:off x="5046750" y="599398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MA1.S2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CF105FE-1176-9E02-95A3-61F7A61076A4}"/>
              </a:ext>
            </a:extLst>
          </p:cNvPr>
          <p:cNvSpPr/>
          <p:nvPr/>
        </p:nvSpPr>
        <p:spPr>
          <a:xfrm>
            <a:off x="5046750" y="619198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95F468-1BA8-07D5-E64B-DDABE789FB84}"/>
              </a:ext>
            </a:extLst>
          </p:cNvPr>
          <p:cNvSpPr txBox="1"/>
          <p:nvPr/>
        </p:nvSpPr>
        <p:spPr>
          <a:xfrm>
            <a:off x="5939550" y="5993980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MB1.S2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A20FFDB-86A5-0BA8-05D3-1B4144EC435A}"/>
              </a:ext>
            </a:extLst>
          </p:cNvPr>
          <p:cNvSpPr/>
          <p:nvPr/>
        </p:nvSpPr>
        <p:spPr>
          <a:xfrm>
            <a:off x="5939550" y="619198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872BAEF-3247-FC8F-0709-B82EA73A5946}"/>
              </a:ext>
            </a:extLst>
          </p:cNvPr>
          <p:cNvSpPr txBox="1"/>
          <p:nvPr/>
        </p:nvSpPr>
        <p:spPr>
          <a:xfrm>
            <a:off x="187340" y="5645950"/>
            <a:ext cx="59215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Backup Name: _________________________________________ Creation Date:____________________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C17E9C9-61F7-41B4-52AF-5C3F9A6F4064}"/>
              </a:ext>
            </a:extLst>
          </p:cNvPr>
          <p:cNvSpPr txBox="1"/>
          <p:nvPr/>
        </p:nvSpPr>
        <p:spPr>
          <a:xfrm>
            <a:off x="309150" y="5898730"/>
            <a:ext cx="8645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100</a:t>
            </a:r>
            <a:endParaRPr lang="en-US" sz="800" b="1" noProof="0" dirty="0">
              <a:solidFill>
                <a:srgbClr val="FF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9774099-EAFF-3FFD-C8F9-8C55213E5FC8}"/>
              </a:ext>
            </a:extLst>
          </p:cNvPr>
          <p:cNvSpPr txBox="1"/>
          <p:nvPr/>
        </p:nvSpPr>
        <p:spPr>
          <a:xfrm>
            <a:off x="1493549" y="5898730"/>
            <a:ext cx="8645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200</a:t>
            </a:r>
            <a:endParaRPr lang="en-US" sz="800" b="1" noProof="0" dirty="0">
              <a:solidFill>
                <a:srgbClr val="FF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48E53A0-B5A0-BD01-F7B6-2399DAF5ACBA}"/>
              </a:ext>
            </a:extLst>
          </p:cNvPr>
          <p:cNvSpPr txBox="1"/>
          <p:nvPr/>
        </p:nvSpPr>
        <p:spPr>
          <a:xfrm>
            <a:off x="2677681" y="5898730"/>
            <a:ext cx="8645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300</a:t>
            </a:r>
            <a:endParaRPr lang="en-US" sz="800" b="1" noProof="0" dirty="0">
              <a:solidFill>
                <a:srgbClr val="FF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37AA061-6F46-B4CA-D8B0-1A2F910E5D6F}"/>
              </a:ext>
            </a:extLst>
          </p:cNvPr>
          <p:cNvSpPr txBox="1"/>
          <p:nvPr/>
        </p:nvSpPr>
        <p:spPr>
          <a:xfrm>
            <a:off x="201150" y="6253653"/>
            <a:ext cx="923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1</a:t>
            </a:r>
            <a:endParaRPr lang="en-US" sz="800" b="1" noProof="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82BD452-9C22-EA66-F942-5CAD04F54175}"/>
              </a:ext>
            </a:extLst>
          </p:cNvPr>
          <p:cNvSpPr txBox="1"/>
          <p:nvPr/>
        </p:nvSpPr>
        <p:spPr>
          <a:xfrm>
            <a:off x="201600" y="8395815"/>
            <a:ext cx="45252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Passphrase Hint:____________________________________________________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CA9B88B-8035-E123-C231-B53C04EFDA9C}"/>
              </a:ext>
            </a:extLst>
          </p:cNvPr>
          <p:cNvSpPr txBox="1"/>
          <p:nvPr/>
        </p:nvSpPr>
        <p:spPr>
          <a:xfrm>
            <a:off x="201599" y="8744051"/>
            <a:ext cx="4525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Recovery Verification Address:_______________________________________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F46094C-3D3D-3454-987F-C33038B45053}"/>
              </a:ext>
            </a:extLst>
          </p:cNvPr>
          <p:cNvSpPr txBox="1"/>
          <p:nvPr/>
        </p:nvSpPr>
        <p:spPr>
          <a:xfrm>
            <a:off x="201599" y="9083648"/>
            <a:ext cx="4525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BIP39 Language:________________ Session:___________________________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8EFF99A-3F4D-CAD5-835D-D13BE45E4384}"/>
              </a:ext>
            </a:extLst>
          </p:cNvPr>
          <p:cNvSpPr txBox="1"/>
          <p:nvPr/>
        </p:nvSpPr>
        <p:spPr>
          <a:xfrm>
            <a:off x="41291" y="9458573"/>
            <a:ext cx="6769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/>
              <a:t>© 2026 GRIFORTIS. </a:t>
            </a:r>
            <a:r>
              <a:rPr lang="en-US" sz="600" dirty="0"/>
              <a:t>Licensed under </a:t>
            </a:r>
            <a:r>
              <a:rPr lang="en-US" sz="600" b="1" dirty="0"/>
              <a:t>CC BY-NC-SA 4.0</a:t>
            </a:r>
            <a:r>
              <a:rPr lang="en-US" sz="600" dirty="0"/>
              <a:t> (Free for personal &amp; educational use). Underlying </a:t>
            </a:r>
            <a:r>
              <a:rPr lang="en-US" sz="600" dirty="0" err="1"/>
              <a:t>DuraShare</a:t>
            </a:r>
            <a:r>
              <a:rPr lang="en-US" sz="600" dirty="0"/>
              <a:t> protocol is Open Source. Provided "as is" without warranty. The user accepts full responsibility for the secure execution of the protocol. v0.7.1</a:t>
            </a:r>
            <a:endParaRPr lang="en-US" sz="600" noProof="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0B967B-DC5F-268C-D819-85F45019A37E}"/>
              </a:ext>
            </a:extLst>
          </p:cNvPr>
          <p:cNvSpPr txBox="1"/>
          <p:nvPr/>
        </p:nvSpPr>
        <p:spPr>
          <a:xfrm>
            <a:off x="251727" y="411609"/>
            <a:ext cx="5695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This page holds part of a secret. </a:t>
            </a:r>
            <a:r>
              <a:rPr lang="en-US" sz="800" b="1" dirty="0">
                <a:solidFill>
                  <a:srgbClr val="FF0000"/>
                </a:solidFill>
              </a:rPr>
              <a:t>DO NOT REVEAL, PHOTOGRAPH OR DIGITIZE!</a:t>
            </a:r>
            <a:r>
              <a:rPr lang="en-US" sz="800" dirty="0"/>
              <a:t> Any exposure can lead to loss of funds.</a:t>
            </a:r>
            <a:endParaRPr lang="en-US" sz="600" noProof="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3E7AA78-3AA7-5101-E423-AFA7D1D51D6B}"/>
              </a:ext>
            </a:extLst>
          </p:cNvPr>
          <p:cNvSpPr txBox="1"/>
          <p:nvPr/>
        </p:nvSpPr>
        <p:spPr>
          <a:xfrm>
            <a:off x="187340" y="5440619"/>
            <a:ext cx="5695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This page holds part of a secret. </a:t>
            </a:r>
            <a:r>
              <a:rPr lang="en-US" sz="800" b="1" dirty="0">
                <a:solidFill>
                  <a:srgbClr val="FF0000"/>
                </a:solidFill>
              </a:rPr>
              <a:t>DO NOT REVEAL, PHOTOGRAPH OR DIGITIZE!</a:t>
            </a:r>
            <a:r>
              <a:rPr lang="en-US" sz="800" dirty="0"/>
              <a:t> Any exposure can lead to loss of funds.</a:t>
            </a:r>
            <a:endParaRPr lang="en-US" sz="600" noProof="0" dirty="0"/>
          </a:p>
        </p:txBody>
      </p:sp>
    </p:spTree>
    <p:extLst>
      <p:ext uri="{BB962C8B-B14F-4D97-AF65-F5344CB8AC3E}">
        <p14:creationId xmlns:p14="http://schemas.microsoft.com/office/powerpoint/2010/main" val="494897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96">
            <a:extLst>
              <a:ext uri="{FF2B5EF4-FFF2-40B4-BE49-F238E27FC236}">
                <a16:creationId xmlns:a16="http://schemas.microsoft.com/office/drawing/2014/main" id="{036FE7E6-1085-427A-2A06-1655A56B683B}"/>
              </a:ext>
            </a:extLst>
          </p:cNvPr>
          <p:cNvSpPr txBox="1"/>
          <p:nvPr/>
        </p:nvSpPr>
        <p:spPr>
          <a:xfrm>
            <a:off x="309150" y="95940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W1.S3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0DA1DA7C-AE1D-E424-C375-A3FD894B28AD}"/>
              </a:ext>
            </a:extLst>
          </p:cNvPr>
          <p:cNvSpPr/>
          <p:nvPr/>
        </p:nvSpPr>
        <p:spPr>
          <a:xfrm>
            <a:off x="309150" y="1157400"/>
            <a:ext cx="864539" cy="359243"/>
          </a:xfrm>
          <a:prstGeom prst="rect">
            <a:avLst/>
          </a:prstGeom>
          <a:noFill/>
          <a:ln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6" name="Picture 65" descr="A logo of a griffin&#10;&#10;AI-generated content may be incorrect.">
            <a:extLst>
              <a:ext uri="{FF2B5EF4-FFF2-40B4-BE49-F238E27FC236}">
                <a16:creationId xmlns:a16="http://schemas.microsoft.com/office/drawing/2014/main" id="{731AA023-C156-A0F4-FC54-937EE9100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856" y="199303"/>
            <a:ext cx="544198" cy="544198"/>
          </a:xfrm>
          <a:prstGeom prst="rect">
            <a:avLst/>
          </a:prstGeom>
          <a:noFill/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4AF5064-C36B-9B3E-A23F-2816D75C152F}"/>
              </a:ext>
            </a:extLst>
          </p:cNvPr>
          <p:cNvSpPr txBox="1"/>
          <p:nvPr/>
        </p:nvSpPr>
        <p:spPr>
          <a:xfrm>
            <a:off x="187340" y="146199"/>
            <a:ext cx="5921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TOP SECRET!</a:t>
            </a:r>
            <a:r>
              <a:rPr lang="en-US" noProof="0" dirty="0"/>
              <a:t>  </a:t>
            </a:r>
            <a:r>
              <a:rPr lang="en-US" noProof="0" dirty="0" err="1"/>
              <a:t>DuraShare</a:t>
            </a:r>
            <a:r>
              <a:rPr lang="en-US" noProof="0" dirty="0"/>
              <a:t> – </a:t>
            </a:r>
            <a:r>
              <a:rPr lang="en-US" dirty="0"/>
              <a:t>3-of-5 TABConf8 – </a:t>
            </a:r>
            <a:r>
              <a:rPr lang="en-US" b="1" dirty="0"/>
              <a:t>Share 3 (S3)</a:t>
            </a:r>
            <a:endParaRPr lang="en-US" b="1" noProof="0" dirty="0">
              <a:solidFill>
                <a:srgbClr val="FF0000"/>
              </a:solidFill>
            </a:endParaRP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3B5DB734-3DAB-E4BD-C051-EC7D8BE1E654}"/>
              </a:ext>
            </a:extLst>
          </p:cNvPr>
          <p:cNvCxnSpPr>
            <a:cxnSpLocks/>
          </p:cNvCxnSpPr>
          <p:nvPr/>
        </p:nvCxnSpPr>
        <p:spPr>
          <a:xfrm>
            <a:off x="309150" y="1751626"/>
            <a:ext cx="881301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19" name="TextBox 518">
            <a:extLst>
              <a:ext uri="{FF2B5EF4-FFF2-40B4-BE49-F238E27FC236}">
                <a16:creationId xmlns:a16="http://schemas.microsoft.com/office/drawing/2014/main" id="{AD7ED372-D0ED-2FA0-17FD-C6E6FD8E428B}"/>
              </a:ext>
            </a:extLst>
          </p:cNvPr>
          <p:cNvSpPr txBox="1"/>
          <p:nvPr/>
        </p:nvSpPr>
        <p:spPr>
          <a:xfrm>
            <a:off x="1493550" y="95940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W2.S3</a:t>
            </a:r>
          </a:p>
        </p:txBody>
      </p:sp>
      <p:sp>
        <p:nvSpPr>
          <p:cNvPr id="520" name="Rectangle 519">
            <a:extLst>
              <a:ext uri="{FF2B5EF4-FFF2-40B4-BE49-F238E27FC236}">
                <a16:creationId xmlns:a16="http://schemas.microsoft.com/office/drawing/2014/main" id="{042680D3-9EDF-CDF9-F955-C9A9127F48B6}"/>
              </a:ext>
            </a:extLst>
          </p:cNvPr>
          <p:cNvSpPr/>
          <p:nvPr/>
        </p:nvSpPr>
        <p:spPr>
          <a:xfrm>
            <a:off x="1493550" y="1157400"/>
            <a:ext cx="864539" cy="359243"/>
          </a:xfrm>
          <a:prstGeom prst="rect">
            <a:avLst/>
          </a:prstGeom>
          <a:noFill/>
          <a:ln>
            <a:solidFill>
              <a:srgbClr val="0F9ED5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21" name="Straight Connector 520">
            <a:extLst>
              <a:ext uri="{FF2B5EF4-FFF2-40B4-BE49-F238E27FC236}">
                <a16:creationId xmlns:a16="http://schemas.microsoft.com/office/drawing/2014/main" id="{12D48BC3-0F87-F0C7-7DE5-58145F0CEB76}"/>
              </a:ext>
            </a:extLst>
          </p:cNvPr>
          <p:cNvCxnSpPr>
            <a:cxnSpLocks/>
          </p:cNvCxnSpPr>
          <p:nvPr/>
        </p:nvCxnSpPr>
        <p:spPr>
          <a:xfrm>
            <a:off x="1493550" y="1751626"/>
            <a:ext cx="881301" cy="0"/>
          </a:xfrm>
          <a:prstGeom prst="line">
            <a:avLst/>
          </a:prstGeom>
          <a:ln w="9525"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43" name="TextBox 342">
            <a:extLst>
              <a:ext uri="{FF2B5EF4-FFF2-40B4-BE49-F238E27FC236}">
                <a16:creationId xmlns:a16="http://schemas.microsoft.com/office/drawing/2014/main" id="{77BBB1C2-46B8-5847-BA13-400DABF999F2}"/>
              </a:ext>
            </a:extLst>
          </p:cNvPr>
          <p:cNvSpPr txBox="1"/>
          <p:nvPr/>
        </p:nvSpPr>
        <p:spPr>
          <a:xfrm>
            <a:off x="2677950" y="95940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W3.S3</a:t>
            </a:r>
          </a:p>
        </p:txBody>
      </p:sp>
      <p:sp>
        <p:nvSpPr>
          <p:cNvPr id="344" name="Rectangle 343">
            <a:extLst>
              <a:ext uri="{FF2B5EF4-FFF2-40B4-BE49-F238E27FC236}">
                <a16:creationId xmlns:a16="http://schemas.microsoft.com/office/drawing/2014/main" id="{38AD03C9-AF0D-F736-B726-8CE960437676}"/>
              </a:ext>
            </a:extLst>
          </p:cNvPr>
          <p:cNvSpPr/>
          <p:nvPr/>
        </p:nvSpPr>
        <p:spPr>
          <a:xfrm>
            <a:off x="2677950" y="1157400"/>
            <a:ext cx="864539" cy="359243"/>
          </a:xfrm>
          <a:prstGeom prst="rect">
            <a:avLst/>
          </a:prstGeom>
          <a:noFill/>
          <a:ln>
            <a:solidFill>
              <a:srgbClr val="4EA72E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6DFC46D1-CE2F-EC8E-59D0-5824909B2C44}"/>
              </a:ext>
            </a:extLst>
          </p:cNvPr>
          <p:cNvCxnSpPr>
            <a:cxnSpLocks/>
          </p:cNvCxnSpPr>
          <p:nvPr/>
        </p:nvCxnSpPr>
        <p:spPr>
          <a:xfrm>
            <a:off x="2677950" y="1751626"/>
            <a:ext cx="881301" cy="0"/>
          </a:xfrm>
          <a:prstGeom prst="line">
            <a:avLst/>
          </a:prstGeom>
          <a:ln w="9525"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24" name="TextBox 423">
            <a:extLst>
              <a:ext uri="{FF2B5EF4-FFF2-40B4-BE49-F238E27FC236}">
                <a16:creationId xmlns:a16="http://schemas.microsoft.com/office/drawing/2014/main" id="{A88A4D25-3AE1-B029-C525-B7B79C437892}"/>
              </a:ext>
            </a:extLst>
          </p:cNvPr>
          <p:cNvSpPr txBox="1"/>
          <p:nvPr/>
        </p:nvSpPr>
        <p:spPr>
          <a:xfrm>
            <a:off x="3862350" y="95940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R1.S3</a:t>
            </a:r>
          </a:p>
        </p:txBody>
      </p:sp>
      <p:sp>
        <p:nvSpPr>
          <p:cNvPr id="425" name="Rectangle 424">
            <a:extLst>
              <a:ext uri="{FF2B5EF4-FFF2-40B4-BE49-F238E27FC236}">
                <a16:creationId xmlns:a16="http://schemas.microsoft.com/office/drawing/2014/main" id="{A58DB5F0-E975-6F2A-9B59-07EDE76A782B}"/>
              </a:ext>
            </a:extLst>
          </p:cNvPr>
          <p:cNvSpPr/>
          <p:nvPr/>
        </p:nvSpPr>
        <p:spPr>
          <a:xfrm>
            <a:off x="3862350" y="1157400"/>
            <a:ext cx="864539" cy="359243"/>
          </a:xfrm>
          <a:prstGeom prst="rect">
            <a:avLst/>
          </a:prstGeom>
          <a:noFill/>
          <a:ln>
            <a:solidFill>
              <a:srgbClr val="A02A93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26" name="Straight Connector 425">
            <a:extLst>
              <a:ext uri="{FF2B5EF4-FFF2-40B4-BE49-F238E27FC236}">
                <a16:creationId xmlns:a16="http://schemas.microsoft.com/office/drawing/2014/main" id="{C585986E-DEB4-3858-07BC-2783AA86452A}"/>
              </a:ext>
            </a:extLst>
          </p:cNvPr>
          <p:cNvCxnSpPr>
            <a:cxnSpLocks/>
          </p:cNvCxnSpPr>
          <p:nvPr/>
        </p:nvCxnSpPr>
        <p:spPr>
          <a:xfrm>
            <a:off x="3862350" y="1751626"/>
            <a:ext cx="881301" cy="0"/>
          </a:xfrm>
          <a:prstGeom prst="line">
            <a:avLst/>
          </a:prstGeom>
          <a:ln w="9525">
            <a:solidFill>
              <a:srgbClr val="A02A93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04" name="TextBox 703">
            <a:extLst>
              <a:ext uri="{FF2B5EF4-FFF2-40B4-BE49-F238E27FC236}">
                <a16:creationId xmlns:a16="http://schemas.microsoft.com/office/drawing/2014/main" id="{8983B472-727E-1058-87A2-3F5F7DB073EC}"/>
              </a:ext>
            </a:extLst>
          </p:cNvPr>
          <p:cNvSpPr txBox="1"/>
          <p:nvPr/>
        </p:nvSpPr>
        <p:spPr>
          <a:xfrm>
            <a:off x="5046750" y="95940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MA1.S3</a:t>
            </a:r>
          </a:p>
        </p:txBody>
      </p:sp>
      <p:sp>
        <p:nvSpPr>
          <p:cNvPr id="705" name="Rectangle 704">
            <a:extLst>
              <a:ext uri="{FF2B5EF4-FFF2-40B4-BE49-F238E27FC236}">
                <a16:creationId xmlns:a16="http://schemas.microsoft.com/office/drawing/2014/main" id="{19008F83-EF8C-F70A-8423-0BA031808573}"/>
              </a:ext>
            </a:extLst>
          </p:cNvPr>
          <p:cNvSpPr/>
          <p:nvPr/>
        </p:nvSpPr>
        <p:spPr>
          <a:xfrm>
            <a:off x="5046750" y="115740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28" name="TextBox 727">
            <a:extLst>
              <a:ext uri="{FF2B5EF4-FFF2-40B4-BE49-F238E27FC236}">
                <a16:creationId xmlns:a16="http://schemas.microsoft.com/office/drawing/2014/main" id="{76224589-00BD-64F8-724D-D369C28DD161}"/>
              </a:ext>
            </a:extLst>
          </p:cNvPr>
          <p:cNvSpPr txBox="1"/>
          <p:nvPr/>
        </p:nvSpPr>
        <p:spPr>
          <a:xfrm>
            <a:off x="5939550" y="959400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MB1.S3</a:t>
            </a:r>
          </a:p>
        </p:txBody>
      </p:sp>
      <p:sp>
        <p:nvSpPr>
          <p:cNvPr id="729" name="Rectangle 728">
            <a:extLst>
              <a:ext uri="{FF2B5EF4-FFF2-40B4-BE49-F238E27FC236}">
                <a16:creationId xmlns:a16="http://schemas.microsoft.com/office/drawing/2014/main" id="{DF69A9A0-03B2-61F7-70B4-5B21B9D3ABFD}"/>
              </a:ext>
            </a:extLst>
          </p:cNvPr>
          <p:cNvSpPr/>
          <p:nvPr/>
        </p:nvSpPr>
        <p:spPr>
          <a:xfrm>
            <a:off x="5939550" y="115740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94" name="TextBox 793">
            <a:extLst>
              <a:ext uri="{FF2B5EF4-FFF2-40B4-BE49-F238E27FC236}">
                <a16:creationId xmlns:a16="http://schemas.microsoft.com/office/drawing/2014/main" id="{E098860C-2A7A-9732-9D40-8A68B6289582}"/>
              </a:ext>
            </a:extLst>
          </p:cNvPr>
          <p:cNvSpPr txBox="1"/>
          <p:nvPr/>
        </p:nvSpPr>
        <p:spPr>
          <a:xfrm>
            <a:off x="187340" y="611370"/>
            <a:ext cx="59215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Backup Name: _________________________________________ Creation Date:____________________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801" name="TextBox 800">
            <a:extLst>
              <a:ext uri="{FF2B5EF4-FFF2-40B4-BE49-F238E27FC236}">
                <a16:creationId xmlns:a16="http://schemas.microsoft.com/office/drawing/2014/main" id="{D7A653AF-73CA-E64E-93FC-C1E5770D0ACD}"/>
              </a:ext>
            </a:extLst>
          </p:cNvPr>
          <p:cNvSpPr txBox="1"/>
          <p:nvPr/>
        </p:nvSpPr>
        <p:spPr>
          <a:xfrm>
            <a:off x="309150" y="864150"/>
            <a:ext cx="8645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100</a:t>
            </a:r>
            <a:endParaRPr lang="en-US" sz="800" b="1" noProof="0" dirty="0">
              <a:solidFill>
                <a:srgbClr val="FF0000"/>
              </a:solidFill>
            </a:endParaRPr>
          </a:p>
        </p:txBody>
      </p:sp>
      <p:sp>
        <p:nvSpPr>
          <p:cNvPr id="802" name="TextBox 801">
            <a:extLst>
              <a:ext uri="{FF2B5EF4-FFF2-40B4-BE49-F238E27FC236}">
                <a16:creationId xmlns:a16="http://schemas.microsoft.com/office/drawing/2014/main" id="{9574059C-E376-7582-0EE0-B538EBC6E7CD}"/>
              </a:ext>
            </a:extLst>
          </p:cNvPr>
          <p:cNvSpPr txBox="1"/>
          <p:nvPr/>
        </p:nvSpPr>
        <p:spPr>
          <a:xfrm>
            <a:off x="1493549" y="864150"/>
            <a:ext cx="8645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200</a:t>
            </a:r>
            <a:endParaRPr lang="en-US" sz="800" b="1" noProof="0" dirty="0">
              <a:solidFill>
                <a:srgbClr val="FF0000"/>
              </a:solidFill>
            </a:endParaRPr>
          </a:p>
        </p:txBody>
      </p:sp>
      <p:sp>
        <p:nvSpPr>
          <p:cNvPr id="803" name="TextBox 802">
            <a:extLst>
              <a:ext uri="{FF2B5EF4-FFF2-40B4-BE49-F238E27FC236}">
                <a16:creationId xmlns:a16="http://schemas.microsoft.com/office/drawing/2014/main" id="{BDC71D8C-A790-72F5-C080-62CAE919B02E}"/>
              </a:ext>
            </a:extLst>
          </p:cNvPr>
          <p:cNvSpPr txBox="1"/>
          <p:nvPr/>
        </p:nvSpPr>
        <p:spPr>
          <a:xfrm>
            <a:off x="2677681" y="864150"/>
            <a:ext cx="8645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300</a:t>
            </a:r>
            <a:endParaRPr lang="en-US" sz="800" b="1" noProof="0" dirty="0">
              <a:solidFill>
                <a:srgbClr val="FF0000"/>
              </a:solidFill>
            </a:endParaRPr>
          </a:p>
        </p:txBody>
      </p:sp>
      <p:sp>
        <p:nvSpPr>
          <p:cNvPr id="804" name="TextBox 803">
            <a:extLst>
              <a:ext uri="{FF2B5EF4-FFF2-40B4-BE49-F238E27FC236}">
                <a16:creationId xmlns:a16="http://schemas.microsoft.com/office/drawing/2014/main" id="{1CBBA368-7930-01B1-E1A4-97C695564CC4}"/>
              </a:ext>
            </a:extLst>
          </p:cNvPr>
          <p:cNvSpPr txBox="1"/>
          <p:nvPr/>
        </p:nvSpPr>
        <p:spPr>
          <a:xfrm>
            <a:off x="201150" y="1219073"/>
            <a:ext cx="923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1</a:t>
            </a:r>
            <a:endParaRPr lang="en-US" sz="800" b="1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2DB1CE-F4F4-092D-0028-0337F4994FC4}"/>
              </a:ext>
            </a:extLst>
          </p:cNvPr>
          <p:cNvSpPr txBox="1"/>
          <p:nvPr/>
        </p:nvSpPr>
        <p:spPr>
          <a:xfrm>
            <a:off x="201600" y="3361235"/>
            <a:ext cx="45252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Passphrase Hint:____________________________________________________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6AE8A9-2FCC-B1A7-112C-1F388AA641C4}"/>
              </a:ext>
            </a:extLst>
          </p:cNvPr>
          <p:cNvSpPr txBox="1"/>
          <p:nvPr/>
        </p:nvSpPr>
        <p:spPr>
          <a:xfrm>
            <a:off x="201599" y="3709471"/>
            <a:ext cx="4525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Recovery Verification Address:_______________________________________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327A38-1BD4-3266-3C7C-98D14DA0E946}"/>
              </a:ext>
            </a:extLst>
          </p:cNvPr>
          <p:cNvSpPr txBox="1"/>
          <p:nvPr/>
        </p:nvSpPr>
        <p:spPr>
          <a:xfrm>
            <a:off x="41291" y="4423993"/>
            <a:ext cx="6769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/>
              <a:t>© 2026 GRIFORTIS. </a:t>
            </a:r>
            <a:r>
              <a:rPr lang="en-US" sz="600" dirty="0"/>
              <a:t>Licensed under </a:t>
            </a:r>
            <a:r>
              <a:rPr lang="en-US" sz="600" b="1" dirty="0"/>
              <a:t>CC BY-NC-SA 4.0</a:t>
            </a:r>
            <a:r>
              <a:rPr lang="en-US" sz="600" dirty="0"/>
              <a:t> (Free for personal &amp; educational use). Underlying </a:t>
            </a:r>
            <a:r>
              <a:rPr lang="en-US" sz="600" dirty="0" err="1"/>
              <a:t>DuraShare</a:t>
            </a:r>
            <a:r>
              <a:rPr lang="en-US" sz="600" dirty="0"/>
              <a:t> protocol is Open Source. Provided "as is" without warranty. The user accepts full responsibility for the secure execution of the protocol. v0.7.1</a:t>
            </a:r>
            <a:endParaRPr lang="en-US" sz="600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4CF1FE-D4A2-F386-6056-321702EAFA68}"/>
              </a:ext>
            </a:extLst>
          </p:cNvPr>
          <p:cNvSpPr txBox="1"/>
          <p:nvPr/>
        </p:nvSpPr>
        <p:spPr>
          <a:xfrm>
            <a:off x="309150" y="599398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W1.S4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39D24B-A69C-0947-A7BD-9C607F806D67}"/>
              </a:ext>
            </a:extLst>
          </p:cNvPr>
          <p:cNvSpPr/>
          <p:nvPr/>
        </p:nvSpPr>
        <p:spPr>
          <a:xfrm>
            <a:off x="309150" y="6191980"/>
            <a:ext cx="864539" cy="359243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 descr="A logo of a griffin&#10;&#10;AI-generated content may be incorrect.">
            <a:extLst>
              <a:ext uri="{FF2B5EF4-FFF2-40B4-BE49-F238E27FC236}">
                <a16:creationId xmlns:a16="http://schemas.microsoft.com/office/drawing/2014/main" id="{C9FFC9DD-AA95-222F-F9E3-89A23333AB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856" y="5233883"/>
            <a:ext cx="544198" cy="544198"/>
          </a:xfrm>
          <a:prstGeom prst="rect">
            <a:avLst/>
          </a:prstGeom>
          <a:noFill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41F676A-342C-9628-AA84-9060907E904A}"/>
              </a:ext>
            </a:extLst>
          </p:cNvPr>
          <p:cNvSpPr txBox="1"/>
          <p:nvPr/>
        </p:nvSpPr>
        <p:spPr>
          <a:xfrm>
            <a:off x="187340" y="5180779"/>
            <a:ext cx="5921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TOP SECRET!</a:t>
            </a:r>
            <a:r>
              <a:rPr lang="en-US" noProof="0" dirty="0"/>
              <a:t>  </a:t>
            </a:r>
            <a:r>
              <a:rPr lang="en-US" noProof="0" dirty="0" err="1"/>
              <a:t>DuraShare</a:t>
            </a:r>
            <a:r>
              <a:rPr lang="en-US" noProof="0" dirty="0"/>
              <a:t> – </a:t>
            </a:r>
            <a:r>
              <a:rPr lang="en-US" dirty="0"/>
              <a:t>3-of-5 TABConf8 – </a:t>
            </a:r>
            <a:r>
              <a:rPr lang="en-US" b="1" dirty="0"/>
              <a:t>Share 4 (S4)</a:t>
            </a:r>
            <a:endParaRPr lang="en-US" b="1" noProof="0" dirty="0">
              <a:solidFill>
                <a:srgbClr val="FF0000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DA62579-379D-F642-BD9F-4DBB157B503C}"/>
              </a:ext>
            </a:extLst>
          </p:cNvPr>
          <p:cNvCxnSpPr>
            <a:cxnSpLocks/>
          </p:cNvCxnSpPr>
          <p:nvPr/>
        </p:nvCxnSpPr>
        <p:spPr>
          <a:xfrm>
            <a:off x="309150" y="6786206"/>
            <a:ext cx="881301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BEC92AC-BCEB-A415-0683-962D7729D4A6}"/>
              </a:ext>
            </a:extLst>
          </p:cNvPr>
          <p:cNvSpPr txBox="1"/>
          <p:nvPr/>
        </p:nvSpPr>
        <p:spPr>
          <a:xfrm>
            <a:off x="1493550" y="599398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W2.S4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9E72A2-4977-B6FB-C973-C3A5D39312ED}"/>
              </a:ext>
            </a:extLst>
          </p:cNvPr>
          <p:cNvSpPr/>
          <p:nvPr/>
        </p:nvSpPr>
        <p:spPr>
          <a:xfrm>
            <a:off x="1493550" y="6191980"/>
            <a:ext cx="864539" cy="359243"/>
          </a:xfrm>
          <a:prstGeom prst="rect">
            <a:avLst/>
          </a:prstGeom>
          <a:noFill/>
          <a:ln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81C0F7-4D09-3CA4-CC3D-27168C4790B8}"/>
              </a:ext>
            </a:extLst>
          </p:cNvPr>
          <p:cNvCxnSpPr>
            <a:cxnSpLocks/>
          </p:cNvCxnSpPr>
          <p:nvPr/>
        </p:nvCxnSpPr>
        <p:spPr>
          <a:xfrm>
            <a:off x="1493550" y="6786206"/>
            <a:ext cx="881301" cy="0"/>
          </a:xfrm>
          <a:prstGeom prst="line">
            <a:avLst/>
          </a:prstGeom>
          <a:ln w="9525"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09458E9-1B12-5DD9-45F6-A38503566895}"/>
              </a:ext>
            </a:extLst>
          </p:cNvPr>
          <p:cNvSpPr txBox="1"/>
          <p:nvPr/>
        </p:nvSpPr>
        <p:spPr>
          <a:xfrm>
            <a:off x="2677950" y="599398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W3.S4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B6EF512-2A85-E849-8654-F5EE605F36EE}"/>
              </a:ext>
            </a:extLst>
          </p:cNvPr>
          <p:cNvSpPr/>
          <p:nvPr/>
        </p:nvSpPr>
        <p:spPr>
          <a:xfrm>
            <a:off x="2677950" y="6191980"/>
            <a:ext cx="864539" cy="359243"/>
          </a:xfrm>
          <a:prstGeom prst="rect">
            <a:avLst/>
          </a:prstGeom>
          <a:noFill/>
          <a:ln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FD7CDA6-3F48-DDCE-EC73-C72650FBC523}"/>
              </a:ext>
            </a:extLst>
          </p:cNvPr>
          <p:cNvCxnSpPr>
            <a:cxnSpLocks/>
          </p:cNvCxnSpPr>
          <p:nvPr/>
        </p:nvCxnSpPr>
        <p:spPr>
          <a:xfrm>
            <a:off x="2677950" y="6786206"/>
            <a:ext cx="881301" cy="0"/>
          </a:xfrm>
          <a:prstGeom prst="line">
            <a:avLst/>
          </a:prstGeom>
          <a:ln w="9525"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C761D89-7D8A-8EEC-CF37-D5CF203202C9}"/>
              </a:ext>
            </a:extLst>
          </p:cNvPr>
          <p:cNvSpPr txBox="1"/>
          <p:nvPr/>
        </p:nvSpPr>
        <p:spPr>
          <a:xfrm>
            <a:off x="3862350" y="599398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R1.S4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8823D28-81F7-5143-5ED2-0A3C6E2B73B8}"/>
              </a:ext>
            </a:extLst>
          </p:cNvPr>
          <p:cNvSpPr/>
          <p:nvPr/>
        </p:nvSpPr>
        <p:spPr>
          <a:xfrm>
            <a:off x="3862350" y="6191980"/>
            <a:ext cx="864539" cy="359243"/>
          </a:xfrm>
          <a:prstGeom prst="rect">
            <a:avLst/>
          </a:prstGeom>
          <a:noFill/>
          <a:ln>
            <a:solidFill>
              <a:srgbClr val="A02A93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F632798-51CA-3BBA-42E5-A0E4565C6E1F}"/>
              </a:ext>
            </a:extLst>
          </p:cNvPr>
          <p:cNvCxnSpPr>
            <a:cxnSpLocks/>
          </p:cNvCxnSpPr>
          <p:nvPr/>
        </p:nvCxnSpPr>
        <p:spPr>
          <a:xfrm>
            <a:off x="3862350" y="6786206"/>
            <a:ext cx="881301" cy="0"/>
          </a:xfrm>
          <a:prstGeom prst="line">
            <a:avLst/>
          </a:prstGeom>
          <a:ln w="9525">
            <a:solidFill>
              <a:srgbClr val="A02A93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E013A81-E3C7-1CB6-0514-6BEDF82F6EEB}"/>
              </a:ext>
            </a:extLst>
          </p:cNvPr>
          <p:cNvSpPr txBox="1"/>
          <p:nvPr/>
        </p:nvSpPr>
        <p:spPr>
          <a:xfrm>
            <a:off x="5046750" y="599398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MA1.S4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CF105FE-1176-9E02-95A3-61F7A61076A4}"/>
              </a:ext>
            </a:extLst>
          </p:cNvPr>
          <p:cNvSpPr/>
          <p:nvPr/>
        </p:nvSpPr>
        <p:spPr>
          <a:xfrm>
            <a:off x="5046750" y="619198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95F468-1BA8-07D5-E64B-DDABE789FB84}"/>
              </a:ext>
            </a:extLst>
          </p:cNvPr>
          <p:cNvSpPr txBox="1"/>
          <p:nvPr/>
        </p:nvSpPr>
        <p:spPr>
          <a:xfrm>
            <a:off x="5939550" y="5993980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MB1.S4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A20FFDB-86A5-0BA8-05D3-1B4144EC435A}"/>
              </a:ext>
            </a:extLst>
          </p:cNvPr>
          <p:cNvSpPr/>
          <p:nvPr/>
        </p:nvSpPr>
        <p:spPr>
          <a:xfrm>
            <a:off x="5939550" y="619198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872BAEF-3247-FC8F-0709-B82EA73A5946}"/>
              </a:ext>
            </a:extLst>
          </p:cNvPr>
          <p:cNvSpPr txBox="1"/>
          <p:nvPr/>
        </p:nvSpPr>
        <p:spPr>
          <a:xfrm>
            <a:off x="187340" y="5645950"/>
            <a:ext cx="59215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Backup Name: _________________________________________ Creation Date:____________________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C17E9C9-61F7-41B4-52AF-5C3F9A6F4064}"/>
              </a:ext>
            </a:extLst>
          </p:cNvPr>
          <p:cNvSpPr txBox="1"/>
          <p:nvPr/>
        </p:nvSpPr>
        <p:spPr>
          <a:xfrm>
            <a:off x="309150" y="5898730"/>
            <a:ext cx="8645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100</a:t>
            </a:r>
            <a:endParaRPr lang="en-US" sz="800" b="1" noProof="0" dirty="0">
              <a:solidFill>
                <a:srgbClr val="FF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9774099-EAFF-3FFD-C8F9-8C55213E5FC8}"/>
              </a:ext>
            </a:extLst>
          </p:cNvPr>
          <p:cNvSpPr txBox="1"/>
          <p:nvPr/>
        </p:nvSpPr>
        <p:spPr>
          <a:xfrm>
            <a:off x="1493549" y="5898730"/>
            <a:ext cx="8645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200</a:t>
            </a:r>
            <a:endParaRPr lang="en-US" sz="800" b="1" noProof="0" dirty="0">
              <a:solidFill>
                <a:srgbClr val="FF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48E53A0-B5A0-BD01-F7B6-2399DAF5ACBA}"/>
              </a:ext>
            </a:extLst>
          </p:cNvPr>
          <p:cNvSpPr txBox="1"/>
          <p:nvPr/>
        </p:nvSpPr>
        <p:spPr>
          <a:xfrm>
            <a:off x="2677681" y="5898730"/>
            <a:ext cx="8645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300</a:t>
            </a:r>
            <a:endParaRPr lang="en-US" sz="800" b="1" noProof="0" dirty="0">
              <a:solidFill>
                <a:srgbClr val="FF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37AA061-6F46-B4CA-D8B0-1A2F910E5D6F}"/>
              </a:ext>
            </a:extLst>
          </p:cNvPr>
          <p:cNvSpPr txBox="1"/>
          <p:nvPr/>
        </p:nvSpPr>
        <p:spPr>
          <a:xfrm>
            <a:off x="201150" y="6253653"/>
            <a:ext cx="923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1</a:t>
            </a:r>
            <a:endParaRPr lang="en-US" sz="800" b="1" noProof="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82BD452-9C22-EA66-F942-5CAD04F54175}"/>
              </a:ext>
            </a:extLst>
          </p:cNvPr>
          <p:cNvSpPr txBox="1"/>
          <p:nvPr/>
        </p:nvSpPr>
        <p:spPr>
          <a:xfrm>
            <a:off x="201600" y="8395815"/>
            <a:ext cx="45252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Passphrase Hint:____________________________________________________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CA9B88B-8035-E123-C231-B53C04EFDA9C}"/>
              </a:ext>
            </a:extLst>
          </p:cNvPr>
          <p:cNvSpPr txBox="1"/>
          <p:nvPr/>
        </p:nvSpPr>
        <p:spPr>
          <a:xfrm>
            <a:off x="201599" y="8744051"/>
            <a:ext cx="4525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Recovery Verification Address:_______________________________________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8EFF99A-3F4D-CAD5-835D-D13BE45E4384}"/>
              </a:ext>
            </a:extLst>
          </p:cNvPr>
          <p:cNvSpPr txBox="1"/>
          <p:nvPr/>
        </p:nvSpPr>
        <p:spPr>
          <a:xfrm>
            <a:off x="41291" y="9458573"/>
            <a:ext cx="6769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/>
              <a:t>© 2026 GRIFORTIS. </a:t>
            </a:r>
            <a:r>
              <a:rPr lang="en-US" sz="600" dirty="0"/>
              <a:t>Licensed under </a:t>
            </a:r>
            <a:r>
              <a:rPr lang="en-US" sz="600" b="1" dirty="0"/>
              <a:t>CC BY-NC-SA 4.0</a:t>
            </a:r>
            <a:r>
              <a:rPr lang="en-US" sz="600" dirty="0"/>
              <a:t> (Free for personal &amp; educational use). Underlying </a:t>
            </a:r>
            <a:r>
              <a:rPr lang="en-US" sz="600" dirty="0" err="1"/>
              <a:t>DuraShare</a:t>
            </a:r>
            <a:r>
              <a:rPr lang="en-US" sz="600" dirty="0"/>
              <a:t> protocol is Open Source. Provided "as is" without warranty. The user accepts full responsibility for the secure execution of the protocol. v0.7.1</a:t>
            </a:r>
            <a:endParaRPr lang="en-US" sz="600" noProof="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66230B5-21E0-2B25-31DE-3AF87B772937}"/>
              </a:ext>
            </a:extLst>
          </p:cNvPr>
          <p:cNvSpPr txBox="1"/>
          <p:nvPr/>
        </p:nvSpPr>
        <p:spPr>
          <a:xfrm>
            <a:off x="251727" y="411609"/>
            <a:ext cx="5695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This page holds part of a secret. </a:t>
            </a:r>
            <a:r>
              <a:rPr lang="en-US" sz="800" b="1" dirty="0">
                <a:solidFill>
                  <a:srgbClr val="FF0000"/>
                </a:solidFill>
              </a:rPr>
              <a:t>DO NOT REVEAL, PHOTOGRAPH OR DIGITIZE!</a:t>
            </a:r>
            <a:r>
              <a:rPr lang="en-US" sz="800" dirty="0"/>
              <a:t> Any exposure can lead to loss of funds.</a:t>
            </a:r>
            <a:endParaRPr lang="en-US" sz="600" noProof="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4133A28-C6F7-14BA-4A5E-A86C54AC856A}"/>
              </a:ext>
            </a:extLst>
          </p:cNvPr>
          <p:cNvSpPr txBox="1"/>
          <p:nvPr/>
        </p:nvSpPr>
        <p:spPr>
          <a:xfrm>
            <a:off x="187340" y="5440619"/>
            <a:ext cx="5695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This page holds part of a secret. </a:t>
            </a:r>
            <a:r>
              <a:rPr lang="en-US" sz="800" b="1" dirty="0">
                <a:solidFill>
                  <a:srgbClr val="FF0000"/>
                </a:solidFill>
              </a:rPr>
              <a:t>DO NOT REVEAL, PHOTOGRAPH OR DIGITIZE!</a:t>
            </a:r>
            <a:r>
              <a:rPr lang="en-US" sz="800" dirty="0"/>
              <a:t> Any exposure can lead to loss of funds.</a:t>
            </a:r>
            <a:endParaRPr lang="en-US" sz="600" noProof="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A1DF1453-74EC-C367-7F38-65138307F25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677" t="13073" r="73757" b="60369"/>
          <a:stretch>
            <a:fillRect/>
          </a:stretch>
        </p:blipFill>
        <p:spPr>
          <a:xfrm>
            <a:off x="4872748" y="7470595"/>
            <a:ext cx="1839391" cy="1865268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E4212D07-4728-5AB6-ABFC-A0B70F242A3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677" t="13073" r="73757" b="60369"/>
          <a:stretch>
            <a:fillRect/>
          </a:stretch>
        </p:blipFill>
        <p:spPr>
          <a:xfrm>
            <a:off x="4872748" y="2429246"/>
            <a:ext cx="1839391" cy="1865268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50E456C8-1F83-579A-43B2-A9C223BD16E1}"/>
              </a:ext>
            </a:extLst>
          </p:cNvPr>
          <p:cNvSpPr txBox="1"/>
          <p:nvPr/>
        </p:nvSpPr>
        <p:spPr>
          <a:xfrm>
            <a:off x="201599" y="4049068"/>
            <a:ext cx="4525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BIP39 Language:______________ Session:_____________________________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FB9A2F9-DE08-90F8-1358-D53FAEAC10A6}"/>
              </a:ext>
            </a:extLst>
          </p:cNvPr>
          <p:cNvSpPr txBox="1"/>
          <p:nvPr/>
        </p:nvSpPr>
        <p:spPr>
          <a:xfrm>
            <a:off x="201599" y="9083648"/>
            <a:ext cx="4525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BIP39 Language:________________ Session:___________________________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9746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96">
            <a:extLst>
              <a:ext uri="{FF2B5EF4-FFF2-40B4-BE49-F238E27FC236}">
                <a16:creationId xmlns:a16="http://schemas.microsoft.com/office/drawing/2014/main" id="{036FE7E6-1085-427A-2A06-1655A56B683B}"/>
              </a:ext>
            </a:extLst>
          </p:cNvPr>
          <p:cNvSpPr txBox="1"/>
          <p:nvPr/>
        </p:nvSpPr>
        <p:spPr>
          <a:xfrm>
            <a:off x="309150" y="95940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W1.S5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0DA1DA7C-AE1D-E424-C375-A3FD894B28AD}"/>
              </a:ext>
            </a:extLst>
          </p:cNvPr>
          <p:cNvSpPr/>
          <p:nvPr/>
        </p:nvSpPr>
        <p:spPr>
          <a:xfrm>
            <a:off x="309150" y="1157400"/>
            <a:ext cx="864539" cy="359243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6" name="Picture 65" descr="A logo of a griffin&#10;&#10;AI-generated content may be incorrect.">
            <a:extLst>
              <a:ext uri="{FF2B5EF4-FFF2-40B4-BE49-F238E27FC236}">
                <a16:creationId xmlns:a16="http://schemas.microsoft.com/office/drawing/2014/main" id="{731AA023-C156-A0F4-FC54-937EE9100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856" y="199303"/>
            <a:ext cx="544198" cy="544198"/>
          </a:xfrm>
          <a:prstGeom prst="rect">
            <a:avLst/>
          </a:prstGeom>
          <a:noFill/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4AF5064-C36B-9B3E-A23F-2816D75C152F}"/>
              </a:ext>
            </a:extLst>
          </p:cNvPr>
          <p:cNvSpPr txBox="1"/>
          <p:nvPr/>
        </p:nvSpPr>
        <p:spPr>
          <a:xfrm>
            <a:off x="187340" y="146199"/>
            <a:ext cx="5921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TOP SECRET!</a:t>
            </a:r>
            <a:r>
              <a:rPr lang="en-US" noProof="0" dirty="0"/>
              <a:t>  </a:t>
            </a:r>
            <a:r>
              <a:rPr lang="en-US" noProof="0" dirty="0" err="1"/>
              <a:t>DuraShare</a:t>
            </a:r>
            <a:r>
              <a:rPr lang="en-US" noProof="0" dirty="0"/>
              <a:t> – </a:t>
            </a:r>
            <a:r>
              <a:rPr lang="en-US" dirty="0"/>
              <a:t>3-of-5 TABConf8 – </a:t>
            </a:r>
            <a:r>
              <a:rPr lang="en-US" b="1" dirty="0"/>
              <a:t>Share 5 (S5)</a:t>
            </a:r>
            <a:endParaRPr lang="en-US" b="1" noProof="0" dirty="0">
              <a:solidFill>
                <a:srgbClr val="FF0000"/>
              </a:solidFill>
            </a:endParaRP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3B5DB734-3DAB-E4BD-C051-EC7D8BE1E654}"/>
              </a:ext>
            </a:extLst>
          </p:cNvPr>
          <p:cNvCxnSpPr>
            <a:cxnSpLocks/>
          </p:cNvCxnSpPr>
          <p:nvPr/>
        </p:nvCxnSpPr>
        <p:spPr>
          <a:xfrm>
            <a:off x="309150" y="1751626"/>
            <a:ext cx="881301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19" name="TextBox 518">
            <a:extLst>
              <a:ext uri="{FF2B5EF4-FFF2-40B4-BE49-F238E27FC236}">
                <a16:creationId xmlns:a16="http://schemas.microsoft.com/office/drawing/2014/main" id="{AD7ED372-D0ED-2FA0-17FD-C6E6FD8E428B}"/>
              </a:ext>
            </a:extLst>
          </p:cNvPr>
          <p:cNvSpPr txBox="1"/>
          <p:nvPr/>
        </p:nvSpPr>
        <p:spPr>
          <a:xfrm>
            <a:off x="1493550" y="95940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W2.S5</a:t>
            </a:r>
          </a:p>
        </p:txBody>
      </p:sp>
      <p:sp>
        <p:nvSpPr>
          <p:cNvPr id="520" name="Rectangle 519">
            <a:extLst>
              <a:ext uri="{FF2B5EF4-FFF2-40B4-BE49-F238E27FC236}">
                <a16:creationId xmlns:a16="http://schemas.microsoft.com/office/drawing/2014/main" id="{042680D3-9EDF-CDF9-F955-C9A9127F48B6}"/>
              </a:ext>
            </a:extLst>
          </p:cNvPr>
          <p:cNvSpPr/>
          <p:nvPr/>
        </p:nvSpPr>
        <p:spPr>
          <a:xfrm>
            <a:off x="1493550" y="1157400"/>
            <a:ext cx="864539" cy="359243"/>
          </a:xfrm>
          <a:prstGeom prst="rect">
            <a:avLst/>
          </a:prstGeom>
          <a:noFill/>
          <a:ln>
            <a:solidFill>
              <a:srgbClr val="0F9ED5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21" name="Straight Connector 520">
            <a:extLst>
              <a:ext uri="{FF2B5EF4-FFF2-40B4-BE49-F238E27FC236}">
                <a16:creationId xmlns:a16="http://schemas.microsoft.com/office/drawing/2014/main" id="{12D48BC3-0F87-F0C7-7DE5-58145F0CEB76}"/>
              </a:ext>
            </a:extLst>
          </p:cNvPr>
          <p:cNvCxnSpPr>
            <a:cxnSpLocks/>
          </p:cNvCxnSpPr>
          <p:nvPr/>
        </p:nvCxnSpPr>
        <p:spPr>
          <a:xfrm>
            <a:off x="1493550" y="1751626"/>
            <a:ext cx="881301" cy="0"/>
          </a:xfrm>
          <a:prstGeom prst="line">
            <a:avLst/>
          </a:prstGeom>
          <a:ln w="9525"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43" name="TextBox 342">
            <a:extLst>
              <a:ext uri="{FF2B5EF4-FFF2-40B4-BE49-F238E27FC236}">
                <a16:creationId xmlns:a16="http://schemas.microsoft.com/office/drawing/2014/main" id="{77BBB1C2-46B8-5847-BA13-400DABF999F2}"/>
              </a:ext>
            </a:extLst>
          </p:cNvPr>
          <p:cNvSpPr txBox="1"/>
          <p:nvPr/>
        </p:nvSpPr>
        <p:spPr>
          <a:xfrm>
            <a:off x="2677950" y="95940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W3.S5</a:t>
            </a:r>
          </a:p>
        </p:txBody>
      </p:sp>
      <p:sp>
        <p:nvSpPr>
          <p:cNvPr id="344" name="Rectangle 343">
            <a:extLst>
              <a:ext uri="{FF2B5EF4-FFF2-40B4-BE49-F238E27FC236}">
                <a16:creationId xmlns:a16="http://schemas.microsoft.com/office/drawing/2014/main" id="{38AD03C9-AF0D-F736-B726-8CE960437676}"/>
              </a:ext>
            </a:extLst>
          </p:cNvPr>
          <p:cNvSpPr/>
          <p:nvPr/>
        </p:nvSpPr>
        <p:spPr>
          <a:xfrm>
            <a:off x="2677950" y="1157400"/>
            <a:ext cx="864539" cy="359243"/>
          </a:xfrm>
          <a:prstGeom prst="rect">
            <a:avLst/>
          </a:prstGeom>
          <a:noFill/>
          <a:ln>
            <a:solidFill>
              <a:srgbClr val="4EA72E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6DFC46D1-CE2F-EC8E-59D0-5824909B2C44}"/>
              </a:ext>
            </a:extLst>
          </p:cNvPr>
          <p:cNvCxnSpPr>
            <a:cxnSpLocks/>
          </p:cNvCxnSpPr>
          <p:nvPr/>
        </p:nvCxnSpPr>
        <p:spPr>
          <a:xfrm>
            <a:off x="2677950" y="1751626"/>
            <a:ext cx="881301" cy="0"/>
          </a:xfrm>
          <a:prstGeom prst="line">
            <a:avLst/>
          </a:prstGeom>
          <a:ln w="9525"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24" name="TextBox 423">
            <a:extLst>
              <a:ext uri="{FF2B5EF4-FFF2-40B4-BE49-F238E27FC236}">
                <a16:creationId xmlns:a16="http://schemas.microsoft.com/office/drawing/2014/main" id="{A88A4D25-3AE1-B029-C525-B7B79C437892}"/>
              </a:ext>
            </a:extLst>
          </p:cNvPr>
          <p:cNvSpPr txBox="1"/>
          <p:nvPr/>
        </p:nvSpPr>
        <p:spPr>
          <a:xfrm>
            <a:off x="3862350" y="95940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R1.S5</a:t>
            </a:r>
          </a:p>
        </p:txBody>
      </p:sp>
      <p:sp>
        <p:nvSpPr>
          <p:cNvPr id="425" name="Rectangle 424">
            <a:extLst>
              <a:ext uri="{FF2B5EF4-FFF2-40B4-BE49-F238E27FC236}">
                <a16:creationId xmlns:a16="http://schemas.microsoft.com/office/drawing/2014/main" id="{A58DB5F0-E975-6F2A-9B59-07EDE76A782B}"/>
              </a:ext>
            </a:extLst>
          </p:cNvPr>
          <p:cNvSpPr/>
          <p:nvPr/>
        </p:nvSpPr>
        <p:spPr>
          <a:xfrm>
            <a:off x="3862350" y="1157400"/>
            <a:ext cx="864539" cy="359243"/>
          </a:xfrm>
          <a:prstGeom prst="rect">
            <a:avLst/>
          </a:prstGeom>
          <a:noFill/>
          <a:ln>
            <a:solidFill>
              <a:srgbClr val="A02A93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26" name="Straight Connector 425">
            <a:extLst>
              <a:ext uri="{FF2B5EF4-FFF2-40B4-BE49-F238E27FC236}">
                <a16:creationId xmlns:a16="http://schemas.microsoft.com/office/drawing/2014/main" id="{C585986E-DEB4-3858-07BC-2783AA86452A}"/>
              </a:ext>
            </a:extLst>
          </p:cNvPr>
          <p:cNvCxnSpPr>
            <a:cxnSpLocks/>
          </p:cNvCxnSpPr>
          <p:nvPr/>
        </p:nvCxnSpPr>
        <p:spPr>
          <a:xfrm>
            <a:off x="3862350" y="1751626"/>
            <a:ext cx="881301" cy="0"/>
          </a:xfrm>
          <a:prstGeom prst="line">
            <a:avLst/>
          </a:prstGeom>
          <a:ln w="9525">
            <a:solidFill>
              <a:srgbClr val="A02A93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04" name="TextBox 703">
            <a:extLst>
              <a:ext uri="{FF2B5EF4-FFF2-40B4-BE49-F238E27FC236}">
                <a16:creationId xmlns:a16="http://schemas.microsoft.com/office/drawing/2014/main" id="{8983B472-727E-1058-87A2-3F5F7DB073EC}"/>
              </a:ext>
            </a:extLst>
          </p:cNvPr>
          <p:cNvSpPr txBox="1"/>
          <p:nvPr/>
        </p:nvSpPr>
        <p:spPr>
          <a:xfrm>
            <a:off x="5046750" y="95940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MA1.S5</a:t>
            </a:r>
          </a:p>
        </p:txBody>
      </p:sp>
      <p:sp>
        <p:nvSpPr>
          <p:cNvPr id="705" name="Rectangle 704">
            <a:extLst>
              <a:ext uri="{FF2B5EF4-FFF2-40B4-BE49-F238E27FC236}">
                <a16:creationId xmlns:a16="http://schemas.microsoft.com/office/drawing/2014/main" id="{19008F83-EF8C-F70A-8423-0BA031808573}"/>
              </a:ext>
            </a:extLst>
          </p:cNvPr>
          <p:cNvSpPr/>
          <p:nvPr/>
        </p:nvSpPr>
        <p:spPr>
          <a:xfrm>
            <a:off x="5046750" y="115740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28" name="TextBox 727">
            <a:extLst>
              <a:ext uri="{FF2B5EF4-FFF2-40B4-BE49-F238E27FC236}">
                <a16:creationId xmlns:a16="http://schemas.microsoft.com/office/drawing/2014/main" id="{76224589-00BD-64F8-724D-D369C28DD161}"/>
              </a:ext>
            </a:extLst>
          </p:cNvPr>
          <p:cNvSpPr txBox="1"/>
          <p:nvPr/>
        </p:nvSpPr>
        <p:spPr>
          <a:xfrm>
            <a:off x="5939550" y="959400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MB1.S5</a:t>
            </a:r>
          </a:p>
        </p:txBody>
      </p:sp>
      <p:sp>
        <p:nvSpPr>
          <p:cNvPr id="729" name="Rectangle 728">
            <a:extLst>
              <a:ext uri="{FF2B5EF4-FFF2-40B4-BE49-F238E27FC236}">
                <a16:creationId xmlns:a16="http://schemas.microsoft.com/office/drawing/2014/main" id="{DF69A9A0-03B2-61F7-70B4-5B21B9D3ABFD}"/>
              </a:ext>
            </a:extLst>
          </p:cNvPr>
          <p:cNvSpPr/>
          <p:nvPr/>
        </p:nvSpPr>
        <p:spPr>
          <a:xfrm>
            <a:off x="5939550" y="115740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94" name="TextBox 793">
            <a:extLst>
              <a:ext uri="{FF2B5EF4-FFF2-40B4-BE49-F238E27FC236}">
                <a16:creationId xmlns:a16="http://schemas.microsoft.com/office/drawing/2014/main" id="{E098860C-2A7A-9732-9D40-8A68B6289582}"/>
              </a:ext>
            </a:extLst>
          </p:cNvPr>
          <p:cNvSpPr txBox="1"/>
          <p:nvPr/>
        </p:nvSpPr>
        <p:spPr>
          <a:xfrm>
            <a:off x="187340" y="611370"/>
            <a:ext cx="59215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Backup Name: _________________________________________ Creation Date:____________________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801" name="TextBox 800">
            <a:extLst>
              <a:ext uri="{FF2B5EF4-FFF2-40B4-BE49-F238E27FC236}">
                <a16:creationId xmlns:a16="http://schemas.microsoft.com/office/drawing/2014/main" id="{D7A653AF-73CA-E64E-93FC-C1E5770D0ACD}"/>
              </a:ext>
            </a:extLst>
          </p:cNvPr>
          <p:cNvSpPr txBox="1"/>
          <p:nvPr/>
        </p:nvSpPr>
        <p:spPr>
          <a:xfrm>
            <a:off x="309150" y="864150"/>
            <a:ext cx="8645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100</a:t>
            </a:r>
            <a:endParaRPr lang="en-US" sz="800" b="1" noProof="0" dirty="0">
              <a:solidFill>
                <a:srgbClr val="FF0000"/>
              </a:solidFill>
            </a:endParaRPr>
          </a:p>
        </p:txBody>
      </p:sp>
      <p:sp>
        <p:nvSpPr>
          <p:cNvPr id="802" name="TextBox 801">
            <a:extLst>
              <a:ext uri="{FF2B5EF4-FFF2-40B4-BE49-F238E27FC236}">
                <a16:creationId xmlns:a16="http://schemas.microsoft.com/office/drawing/2014/main" id="{9574059C-E376-7582-0EE0-B538EBC6E7CD}"/>
              </a:ext>
            </a:extLst>
          </p:cNvPr>
          <p:cNvSpPr txBox="1"/>
          <p:nvPr/>
        </p:nvSpPr>
        <p:spPr>
          <a:xfrm>
            <a:off x="1493549" y="864150"/>
            <a:ext cx="8645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200</a:t>
            </a:r>
            <a:endParaRPr lang="en-US" sz="800" b="1" noProof="0" dirty="0">
              <a:solidFill>
                <a:srgbClr val="FF0000"/>
              </a:solidFill>
            </a:endParaRPr>
          </a:p>
        </p:txBody>
      </p:sp>
      <p:sp>
        <p:nvSpPr>
          <p:cNvPr id="803" name="TextBox 802">
            <a:extLst>
              <a:ext uri="{FF2B5EF4-FFF2-40B4-BE49-F238E27FC236}">
                <a16:creationId xmlns:a16="http://schemas.microsoft.com/office/drawing/2014/main" id="{BDC71D8C-A790-72F5-C080-62CAE919B02E}"/>
              </a:ext>
            </a:extLst>
          </p:cNvPr>
          <p:cNvSpPr txBox="1"/>
          <p:nvPr/>
        </p:nvSpPr>
        <p:spPr>
          <a:xfrm>
            <a:off x="2677681" y="864150"/>
            <a:ext cx="8645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300</a:t>
            </a:r>
            <a:endParaRPr lang="en-US" sz="800" b="1" noProof="0" dirty="0">
              <a:solidFill>
                <a:srgbClr val="FF0000"/>
              </a:solidFill>
            </a:endParaRPr>
          </a:p>
        </p:txBody>
      </p:sp>
      <p:sp>
        <p:nvSpPr>
          <p:cNvPr id="804" name="TextBox 803">
            <a:extLst>
              <a:ext uri="{FF2B5EF4-FFF2-40B4-BE49-F238E27FC236}">
                <a16:creationId xmlns:a16="http://schemas.microsoft.com/office/drawing/2014/main" id="{1CBBA368-7930-01B1-E1A4-97C695564CC4}"/>
              </a:ext>
            </a:extLst>
          </p:cNvPr>
          <p:cNvSpPr txBox="1"/>
          <p:nvPr/>
        </p:nvSpPr>
        <p:spPr>
          <a:xfrm>
            <a:off x="201150" y="1219073"/>
            <a:ext cx="923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1</a:t>
            </a:r>
            <a:endParaRPr lang="en-US" sz="800" b="1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2DB1CE-F4F4-092D-0028-0337F4994FC4}"/>
              </a:ext>
            </a:extLst>
          </p:cNvPr>
          <p:cNvSpPr txBox="1"/>
          <p:nvPr/>
        </p:nvSpPr>
        <p:spPr>
          <a:xfrm>
            <a:off x="201600" y="3361235"/>
            <a:ext cx="45252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Passphrase Hint:____________________________________________________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6AE8A9-2FCC-B1A7-112C-1F388AA641C4}"/>
              </a:ext>
            </a:extLst>
          </p:cNvPr>
          <p:cNvSpPr txBox="1"/>
          <p:nvPr/>
        </p:nvSpPr>
        <p:spPr>
          <a:xfrm>
            <a:off x="201599" y="3709471"/>
            <a:ext cx="4525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Recovery Verification Address:_______________________________________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327A38-1BD4-3266-3C7C-98D14DA0E946}"/>
              </a:ext>
            </a:extLst>
          </p:cNvPr>
          <p:cNvSpPr txBox="1"/>
          <p:nvPr/>
        </p:nvSpPr>
        <p:spPr>
          <a:xfrm>
            <a:off x="41291" y="4423993"/>
            <a:ext cx="6769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/>
              <a:t>© 2026 GRIFORTIS. </a:t>
            </a:r>
            <a:r>
              <a:rPr lang="en-US" sz="600" dirty="0"/>
              <a:t>Licensed under </a:t>
            </a:r>
            <a:r>
              <a:rPr lang="en-US" sz="600" b="1" dirty="0"/>
              <a:t>CC BY-NC-SA 4.0</a:t>
            </a:r>
            <a:r>
              <a:rPr lang="en-US" sz="600" dirty="0"/>
              <a:t> (Free for personal &amp; educational use). Underlying </a:t>
            </a:r>
            <a:r>
              <a:rPr lang="en-US" sz="600" dirty="0" err="1"/>
              <a:t>DuraShare</a:t>
            </a:r>
            <a:r>
              <a:rPr lang="en-US" sz="600" dirty="0"/>
              <a:t> protocol is Open Source. Provided "as is" without warranty. The user accepts full responsibility for the secure execution of the protocol. v0.7.1</a:t>
            </a:r>
            <a:endParaRPr lang="en-US" sz="600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4CF1FE-D4A2-F386-6056-321702EAFA68}"/>
              </a:ext>
            </a:extLst>
          </p:cNvPr>
          <p:cNvSpPr txBox="1"/>
          <p:nvPr/>
        </p:nvSpPr>
        <p:spPr>
          <a:xfrm>
            <a:off x="309150" y="599398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W1.S1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39D24B-A69C-0947-A7BD-9C607F806D67}"/>
              </a:ext>
            </a:extLst>
          </p:cNvPr>
          <p:cNvSpPr/>
          <p:nvPr/>
        </p:nvSpPr>
        <p:spPr>
          <a:xfrm>
            <a:off x="309150" y="6191980"/>
            <a:ext cx="864539" cy="359243"/>
          </a:xfrm>
          <a:prstGeom prst="rect">
            <a:avLst/>
          </a:prstGeom>
          <a:noFill/>
          <a:ln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 descr="A logo of a griffin&#10;&#10;AI-generated content may be incorrect.">
            <a:extLst>
              <a:ext uri="{FF2B5EF4-FFF2-40B4-BE49-F238E27FC236}">
                <a16:creationId xmlns:a16="http://schemas.microsoft.com/office/drawing/2014/main" id="{C9FFC9DD-AA95-222F-F9E3-89A23333AB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856" y="5233883"/>
            <a:ext cx="544198" cy="544198"/>
          </a:xfrm>
          <a:prstGeom prst="rect">
            <a:avLst/>
          </a:prstGeom>
          <a:noFill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41F676A-342C-9628-AA84-9060907E904A}"/>
              </a:ext>
            </a:extLst>
          </p:cNvPr>
          <p:cNvSpPr txBox="1"/>
          <p:nvPr/>
        </p:nvSpPr>
        <p:spPr>
          <a:xfrm>
            <a:off x="187340" y="5180779"/>
            <a:ext cx="5921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TOP SECRET!</a:t>
            </a:r>
            <a:r>
              <a:rPr lang="en-US" noProof="0" dirty="0"/>
              <a:t>  </a:t>
            </a:r>
            <a:r>
              <a:rPr lang="en-US" noProof="0" dirty="0" err="1"/>
              <a:t>DuraShare</a:t>
            </a:r>
            <a:r>
              <a:rPr lang="en-US" noProof="0" dirty="0"/>
              <a:t> – </a:t>
            </a:r>
            <a:r>
              <a:rPr lang="en-US" dirty="0"/>
              <a:t>3-of-5 TABConf8 – </a:t>
            </a:r>
            <a:r>
              <a:rPr lang="en-US" b="1" dirty="0"/>
              <a:t>Share 1 (S1)</a:t>
            </a:r>
            <a:endParaRPr lang="en-US" b="1" noProof="0" dirty="0">
              <a:solidFill>
                <a:srgbClr val="FF0000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DA62579-379D-F642-BD9F-4DBB157B503C}"/>
              </a:ext>
            </a:extLst>
          </p:cNvPr>
          <p:cNvCxnSpPr>
            <a:cxnSpLocks/>
          </p:cNvCxnSpPr>
          <p:nvPr/>
        </p:nvCxnSpPr>
        <p:spPr>
          <a:xfrm>
            <a:off x="309150" y="6786206"/>
            <a:ext cx="881301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BEC92AC-BCEB-A415-0683-962D7729D4A6}"/>
              </a:ext>
            </a:extLst>
          </p:cNvPr>
          <p:cNvSpPr txBox="1"/>
          <p:nvPr/>
        </p:nvSpPr>
        <p:spPr>
          <a:xfrm>
            <a:off x="1493550" y="599398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W2.S1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9E72A2-4977-B6FB-C973-C3A5D39312ED}"/>
              </a:ext>
            </a:extLst>
          </p:cNvPr>
          <p:cNvSpPr/>
          <p:nvPr/>
        </p:nvSpPr>
        <p:spPr>
          <a:xfrm>
            <a:off x="1493550" y="6191980"/>
            <a:ext cx="864539" cy="359243"/>
          </a:xfrm>
          <a:prstGeom prst="rect">
            <a:avLst/>
          </a:prstGeom>
          <a:noFill/>
          <a:ln>
            <a:solidFill>
              <a:srgbClr val="0F9ED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81C0F7-4D09-3CA4-CC3D-27168C4790B8}"/>
              </a:ext>
            </a:extLst>
          </p:cNvPr>
          <p:cNvCxnSpPr>
            <a:cxnSpLocks/>
          </p:cNvCxnSpPr>
          <p:nvPr/>
        </p:nvCxnSpPr>
        <p:spPr>
          <a:xfrm>
            <a:off x="1493550" y="6786206"/>
            <a:ext cx="881301" cy="0"/>
          </a:xfrm>
          <a:prstGeom prst="line">
            <a:avLst/>
          </a:prstGeom>
          <a:ln w="9525"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09458E9-1B12-5DD9-45F6-A38503566895}"/>
              </a:ext>
            </a:extLst>
          </p:cNvPr>
          <p:cNvSpPr txBox="1"/>
          <p:nvPr/>
        </p:nvSpPr>
        <p:spPr>
          <a:xfrm>
            <a:off x="2677950" y="599398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W3.S1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B6EF512-2A85-E849-8654-F5EE605F36EE}"/>
              </a:ext>
            </a:extLst>
          </p:cNvPr>
          <p:cNvSpPr/>
          <p:nvPr/>
        </p:nvSpPr>
        <p:spPr>
          <a:xfrm>
            <a:off x="2677950" y="6191980"/>
            <a:ext cx="864539" cy="359243"/>
          </a:xfrm>
          <a:prstGeom prst="rect">
            <a:avLst/>
          </a:prstGeom>
          <a:noFill/>
          <a:ln>
            <a:solidFill>
              <a:srgbClr val="4EA72E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FD7CDA6-3F48-DDCE-EC73-C72650FBC523}"/>
              </a:ext>
            </a:extLst>
          </p:cNvPr>
          <p:cNvCxnSpPr>
            <a:cxnSpLocks/>
          </p:cNvCxnSpPr>
          <p:nvPr/>
        </p:nvCxnSpPr>
        <p:spPr>
          <a:xfrm>
            <a:off x="2677950" y="6786206"/>
            <a:ext cx="881301" cy="0"/>
          </a:xfrm>
          <a:prstGeom prst="line">
            <a:avLst/>
          </a:prstGeom>
          <a:ln w="9525"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C761D89-7D8A-8EEC-CF37-D5CF203202C9}"/>
              </a:ext>
            </a:extLst>
          </p:cNvPr>
          <p:cNvSpPr txBox="1"/>
          <p:nvPr/>
        </p:nvSpPr>
        <p:spPr>
          <a:xfrm>
            <a:off x="3862350" y="599398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R1.S1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8823D28-81F7-5143-5ED2-0A3C6E2B73B8}"/>
              </a:ext>
            </a:extLst>
          </p:cNvPr>
          <p:cNvSpPr/>
          <p:nvPr/>
        </p:nvSpPr>
        <p:spPr>
          <a:xfrm>
            <a:off x="3862350" y="6191980"/>
            <a:ext cx="864539" cy="359243"/>
          </a:xfrm>
          <a:prstGeom prst="rect">
            <a:avLst/>
          </a:prstGeom>
          <a:noFill/>
          <a:ln>
            <a:solidFill>
              <a:srgbClr val="A02A93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F632798-51CA-3BBA-42E5-A0E4565C6E1F}"/>
              </a:ext>
            </a:extLst>
          </p:cNvPr>
          <p:cNvCxnSpPr>
            <a:cxnSpLocks/>
          </p:cNvCxnSpPr>
          <p:nvPr/>
        </p:nvCxnSpPr>
        <p:spPr>
          <a:xfrm>
            <a:off x="3862350" y="6786206"/>
            <a:ext cx="881301" cy="0"/>
          </a:xfrm>
          <a:prstGeom prst="line">
            <a:avLst/>
          </a:prstGeom>
          <a:ln w="9525">
            <a:solidFill>
              <a:srgbClr val="A02A93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E013A81-E3C7-1CB6-0514-6BEDF82F6EEB}"/>
              </a:ext>
            </a:extLst>
          </p:cNvPr>
          <p:cNvSpPr txBox="1"/>
          <p:nvPr/>
        </p:nvSpPr>
        <p:spPr>
          <a:xfrm>
            <a:off x="5046750" y="599398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MA1.S1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CF105FE-1176-9E02-95A3-61F7A61076A4}"/>
              </a:ext>
            </a:extLst>
          </p:cNvPr>
          <p:cNvSpPr/>
          <p:nvPr/>
        </p:nvSpPr>
        <p:spPr>
          <a:xfrm>
            <a:off x="5046750" y="619198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95F468-1BA8-07D5-E64B-DDABE789FB84}"/>
              </a:ext>
            </a:extLst>
          </p:cNvPr>
          <p:cNvSpPr txBox="1"/>
          <p:nvPr/>
        </p:nvSpPr>
        <p:spPr>
          <a:xfrm>
            <a:off x="5939550" y="5993980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MB1.S1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A20FFDB-86A5-0BA8-05D3-1B4144EC435A}"/>
              </a:ext>
            </a:extLst>
          </p:cNvPr>
          <p:cNvSpPr/>
          <p:nvPr/>
        </p:nvSpPr>
        <p:spPr>
          <a:xfrm>
            <a:off x="5939550" y="619198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872BAEF-3247-FC8F-0709-B82EA73A5946}"/>
              </a:ext>
            </a:extLst>
          </p:cNvPr>
          <p:cNvSpPr txBox="1"/>
          <p:nvPr/>
        </p:nvSpPr>
        <p:spPr>
          <a:xfrm>
            <a:off x="187340" y="5645950"/>
            <a:ext cx="59215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Backup Name: _________________________________________ Creation Date:____________________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C17E9C9-61F7-41B4-52AF-5C3F9A6F4064}"/>
              </a:ext>
            </a:extLst>
          </p:cNvPr>
          <p:cNvSpPr txBox="1"/>
          <p:nvPr/>
        </p:nvSpPr>
        <p:spPr>
          <a:xfrm>
            <a:off x="309150" y="5898730"/>
            <a:ext cx="8645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100</a:t>
            </a:r>
            <a:endParaRPr lang="en-US" sz="800" b="1" noProof="0" dirty="0">
              <a:solidFill>
                <a:srgbClr val="FF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9774099-EAFF-3FFD-C8F9-8C55213E5FC8}"/>
              </a:ext>
            </a:extLst>
          </p:cNvPr>
          <p:cNvSpPr txBox="1"/>
          <p:nvPr/>
        </p:nvSpPr>
        <p:spPr>
          <a:xfrm>
            <a:off x="1493549" y="5898730"/>
            <a:ext cx="8645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200</a:t>
            </a:r>
            <a:endParaRPr lang="en-US" sz="800" b="1" noProof="0" dirty="0">
              <a:solidFill>
                <a:srgbClr val="FF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48E53A0-B5A0-BD01-F7B6-2399DAF5ACBA}"/>
              </a:ext>
            </a:extLst>
          </p:cNvPr>
          <p:cNvSpPr txBox="1"/>
          <p:nvPr/>
        </p:nvSpPr>
        <p:spPr>
          <a:xfrm>
            <a:off x="2677681" y="5898730"/>
            <a:ext cx="8645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300</a:t>
            </a:r>
            <a:endParaRPr lang="en-US" sz="800" b="1" noProof="0" dirty="0">
              <a:solidFill>
                <a:srgbClr val="FF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37AA061-6F46-B4CA-D8B0-1A2F910E5D6F}"/>
              </a:ext>
            </a:extLst>
          </p:cNvPr>
          <p:cNvSpPr txBox="1"/>
          <p:nvPr/>
        </p:nvSpPr>
        <p:spPr>
          <a:xfrm>
            <a:off x="201150" y="6253653"/>
            <a:ext cx="923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1</a:t>
            </a:r>
            <a:endParaRPr lang="en-US" sz="800" b="1" noProof="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82BD452-9C22-EA66-F942-5CAD04F54175}"/>
              </a:ext>
            </a:extLst>
          </p:cNvPr>
          <p:cNvSpPr txBox="1"/>
          <p:nvPr/>
        </p:nvSpPr>
        <p:spPr>
          <a:xfrm>
            <a:off x="201600" y="8395815"/>
            <a:ext cx="45252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Passphrase Hint:____________________________________________________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CA9B88B-8035-E123-C231-B53C04EFDA9C}"/>
              </a:ext>
            </a:extLst>
          </p:cNvPr>
          <p:cNvSpPr txBox="1"/>
          <p:nvPr/>
        </p:nvSpPr>
        <p:spPr>
          <a:xfrm>
            <a:off x="201599" y="8744051"/>
            <a:ext cx="4525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Recovery Verification Address:_______________________________________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8EFF99A-3F4D-CAD5-835D-D13BE45E4384}"/>
              </a:ext>
            </a:extLst>
          </p:cNvPr>
          <p:cNvSpPr txBox="1"/>
          <p:nvPr/>
        </p:nvSpPr>
        <p:spPr>
          <a:xfrm>
            <a:off x="41291" y="9458573"/>
            <a:ext cx="6769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/>
              <a:t>© 2026 GRIFORTIS. </a:t>
            </a:r>
            <a:r>
              <a:rPr lang="en-US" sz="600" dirty="0"/>
              <a:t>Licensed under </a:t>
            </a:r>
            <a:r>
              <a:rPr lang="en-US" sz="600" b="1" dirty="0"/>
              <a:t>CC BY-NC-SA 4.0</a:t>
            </a:r>
            <a:r>
              <a:rPr lang="en-US" sz="600" dirty="0"/>
              <a:t> (Free for personal &amp; educational use). Underlying </a:t>
            </a:r>
            <a:r>
              <a:rPr lang="en-US" sz="600" dirty="0" err="1"/>
              <a:t>DuraShare</a:t>
            </a:r>
            <a:r>
              <a:rPr lang="en-US" sz="600" dirty="0"/>
              <a:t> protocol is Open Source. Provided "as is" without warranty. The user accepts full responsibility for the secure execution of the protocol. v0.7.1</a:t>
            </a:r>
            <a:endParaRPr lang="en-US" sz="600" noProof="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1BD6088-A2ED-E78F-749B-4756788590CE}"/>
              </a:ext>
            </a:extLst>
          </p:cNvPr>
          <p:cNvSpPr txBox="1"/>
          <p:nvPr/>
        </p:nvSpPr>
        <p:spPr>
          <a:xfrm>
            <a:off x="251727" y="411609"/>
            <a:ext cx="5695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This page holds part of a secret. </a:t>
            </a:r>
            <a:r>
              <a:rPr lang="en-US" sz="800" b="1" dirty="0">
                <a:solidFill>
                  <a:srgbClr val="FF0000"/>
                </a:solidFill>
              </a:rPr>
              <a:t>DO NOT REVEAL, PHOTOGRAPH OR DIGITIZE!</a:t>
            </a:r>
            <a:r>
              <a:rPr lang="en-US" sz="800" dirty="0"/>
              <a:t> Any exposure can lead to loss of funds.</a:t>
            </a:r>
            <a:endParaRPr lang="en-US" sz="600" noProof="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1CC5F1A-E28D-83B5-9058-7D2B45AD013A}"/>
              </a:ext>
            </a:extLst>
          </p:cNvPr>
          <p:cNvSpPr txBox="1"/>
          <p:nvPr/>
        </p:nvSpPr>
        <p:spPr>
          <a:xfrm>
            <a:off x="187340" y="5440619"/>
            <a:ext cx="5695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This page holds part of a secret. </a:t>
            </a:r>
            <a:r>
              <a:rPr lang="en-US" sz="800" b="1" dirty="0">
                <a:solidFill>
                  <a:srgbClr val="FF0000"/>
                </a:solidFill>
              </a:rPr>
              <a:t>DO NOT REVEAL, PHOTOGRAPH OR DIGITIZE!</a:t>
            </a:r>
            <a:r>
              <a:rPr lang="en-US" sz="800" dirty="0"/>
              <a:t> Any exposure can lead to loss of funds.</a:t>
            </a:r>
            <a:endParaRPr lang="en-US" sz="600" noProof="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5014B38B-E05F-C885-37B0-54A144CDF3C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677" t="13073" r="73757" b="60369"/>
          <a:stretch>
            <a:fillRect/>
          </a:stretch>
        </p:blipFill>
        <p:spPr>
          <a:xfrm>
            <a:off x="4872748" y="7470595"/>
            <a:ext cx="1839391" cy="1865268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D089742E-8141-FD6D-1618-CB3C7E5A536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677" t="13073" r="73757" b="60369"/>
          <a:stretch>
            <a:fillRect/>
          </a:stretch>
        </p:blipFill>
        <p:spPr>
          <a:xfrm>
            <a:off x="4872748" y="2429246"/>
            <a:ext cx="1839391" cy="1865268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6A994F21-63FA-1EC9-8655-7B0A2A53DB67}"/>
              </a:ext>
            </a:extLst>
          </p:cNvPr>
          <p:cNvSpPr txBox="1"/>
          <p:nvPr/>
        </p:nvSpPr>
        <p:spPr>
          <a:xfrm>
            <a:off x="201599" y="4049068"/>
            <a:ext cx="4525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BIP39 Language:______________ Session:_____________________________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A36B66F-AA66-64D1-1DBD-809A66B695D1}"/>
              </a:ext>
            </a:extLst>
          </p:cNvPr>
          <p:cNvSpPr txBox="1"/>
          <p:nvPr/>
        </p:nvSpPr>
        <p:spPr>
          <a:xfrm>
            <a:off x="201599" y="9083648"/>
            <a:ext cx="4525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BIP39 Language:________________ Session:___________________________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7403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96">
            <a:extLst>
              <a:ext uri="{FF2B5EF4-FFF2-40B4-BE49-F238E27FC236}">
                <a16:creationId xmlns:a16="http://schemas.microsoft.com/office/drawing/2014/main" id="{036FE7E6-1085-427A-2A06-1655A56B683B}"/>
              </a:ext>
            </a:extLst>
          </p:cNvPr>
          <p:cNvSpPr txBox="1"/>
          <p:nvPr/>
        </p:nvSpPr>
        <p:spPr>
          <a:xfrm>
            <a:off x="309150" y="95940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W1.S2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0DA1DA7C-AE1D-E424-C375-A3FD894B28AD}"/>
              </a:ext>
            </a:extLst>
          </p:cNvPr>
          <p:cNvSpPr/>
          <p:nvPr/>
        </p:nvSpPr>
        <p:spPr>
          <a:xfrm>
            <a:off x="309150" y="1157400"/>
            <a:ext cx="864539" cy="35924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6" name="Picture 65" descr="A logo of a griffin&#10;&#10;AI-generated content may be incorrect.">
            <a:extLst>
              <a:ext uri="{FF2B5EF4-FFF2-40B4-BE49-F238E27FC236}">
                <a16:creationId xmlns:a16="http://schemas.microsoft.com/office/drawing/2014/main" id="{731AA023-C156-A0F4-FC54-937EE9100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856" y="199303"/>
            <a:ext cx="544198" cy="544198"/>
          </a:xfrm>
          <a:prstGeom prst="rect">
            <a:avLst/>
          </a:prstGeom>
          <a:noFill/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4AF5064-C36B-9B3E-A23F-2816D75C152F}"/>
              </a:ext>
            </a:extLst>
          </p:cNvPr>
          <p:cNvSpPr txBox="1"/>
          <p:nvPr/>
        </p:nvSpPr>
        <p:spPr>
          <a:xfrm>
            <a:off x="187340" y="146199"/>
            <a:ext cx="5921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TOP SECRET!</a:t>
            </a:r>
            <a:r>
              <a:rPr lang="en-US" noProof="0" dirty="0"/>
              <a:t>  </a:t>
            </a:r>
            <a:r>
              <a:rPr lang="en-US" noProof="0" dirty="0" err="1"/>
              <a:t>DuraShare</a:t>
            </a:r>
            <a:r>
              <a:rPr lang="en-US" noProof="0" dirty="0"/>
              <a:t> – </a:t>
            </a:r>
            <a:r>
              <a:rPr lang="en-US" dirty="0"/>
              <a:t>3-of-5 TABConf8 – </a:t>
            </a:r>
            <a:r>
              <a:rPr lang="en-US" b="1" dirty="0"/>
              <a:t>Share 2 (S2)</a:t>
            </a:r>
            <a:endParaRPr lang="en-US" b="1" noProof="0" dirty="0">
              <a:solidFill>
                <a:srgbClr val="FF0000"/>
              </a:solidFill>
            </a:endParaRP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3B5DB734-3DAB-E4BD-C051-EC7D8BE1E654}"/>
              </a:ext>
            </a:extLst>
          </p:cNvPr>
          <p:cNvCxnSpPr>
            <a:cxnSpLocks/>
          </p:cNvCxnSpPr>
          <p:nvPr/>
        </p:nvCxnSpPr>
        <p:spPr>
          <a:xfrm>
            <a:off x="309150" y="1751626"/>
            <a:ext cx="881301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19" name="TextBox 518">
            <a:extLst>
              <a:ext uri="{FF2B5EF4-FFF2-40B4-BE49-F238E27FC236}">
                <a16:creationId xmlns:a16="http://schemas.microsoft.com/office/drawing/2014/main" id="{AD7ED372-D0ED-2FA0-17FD-C6E6FD8E428B}"/>
              </a:ext>
            </a:extLst>
          </p:cNvPr>
          <p:cNvSpPr txBox="1"/>
          <p:nvPr/>
        </p:nvSpPr>
        <p:spPr>
          <a:xfrm>
            <a:off x="1493550" y="95940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W2.S2</a:t>
            </a:r>
          </a:p>
        </p:txBody>
      </p:sp>
      <p:sp>
        <p:nvSpPr>
          <p:cNvPr id="520" name="Rectangle 519">
            <a:extLst>
              <a:ext uri="{FF2B5EF4-FFF2-40B4-BE49-F238E27FC236}">
                <a16:creationId xmlns:a16="http://schemas.microsoft.com/office/drawing/2014/main" id="{042680D3-9EDF-CDF9-F955-C9A9127F48B6}"/>
              </a:ext>
            </a:extLst>
          </p:cNvPr>
          <p:cNvSpPr/>
          <p:nvPr/>
        </p:nvSpPr>
        <p:spPr>
          <a:xfrm>
            <a:off x="1493550" y="1157400"/>
            <a:ext cx="864539" cy="359243"/>
          </a:xfrm>
          <a:prstGeom prst="rect">
            <a:avLst/>
          </a:prstGeom>
          <a:noFill/>
          <a:ln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21" name="Straight Connector 520">
            <a:extLst>
              <a:ext uri="{FF2B5EF4-FFF2-40B4-BE49-F238E27FC236}">
                <a16:creationId xmlns:a16="http://schemas.microsoft.com/office/drawing/2014/main" id="{12D48BC3-0F87-F0C7-7DE5-58145F0CEB76}"/>
              </a:ext>
            </a:extLst>
          </p:cNvPr>
          <p:cNvCxnSpPr>
            <a:cxnSpLocks/>
          </p:cNvCxnSpPr>
          <p:nvPr/>
        </p:nvCxnSpPr>
        <p:spPr>
          <a:xfrm>
            <a:off x="1493550" y="1751626"/>
            <a:ext cx="881301" cy="0"/>
          </a:xfrm>
          <a:prstGeom prst="line">
            <a:avLst/>
          </a:prstGeom>
          <a:ln w="9525"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43" name="TextBox 342">
            <a:extLst>
              <a:ext uri="{FF2B5EF4-FFF2-40B4-BE49-F238E27FC236}">
                <a16:creationId xmlns:a16="http://schemas.microsoft.com/office/drawing/2014/main" id="{77BBB1C2-46B8-5847-BA13-400DABF999F2}"/>
              </a:ext>
            </a:extLst>
          </p:cNvPr>
          <p:cNvSpPr txBox="1"/>
          <p:nvPr/>
        </p:nvSpPr>
        <p:spPr>
          <a:xfrm>
            <a:off x="2677950" y="95940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W3.S2</a:t>
            </a:r>
          </a:p>
        </p:txBody>
      </p:sp>
      <p:sp>
        <p:nvSpPr>
          <p:cNvPr id="344" name="Rectangle 343">
            <a:extLst>
              <a:ext uri="{FF2B5EF4-FFF2-40B4-BE49-F238E27FC236}">
                <a16:creationId xmlns:a16="http://schemas.microsoft.com/office/drawing/2014/main" id="{38AD03C9-AF0D-F736-B726-8CE960437676}"/>
              </a:ext>
            </a:extLst>
          </p:cNvPr>
          <p:cNvSpPr/>
          <p:nvPr/>
        </p:nvSpPr>
        <p:spPr>
          <a:xfrm>
            <a:off x="2677950" y="1157400"/>
            <a:ext cx="864539" cy="359243"/>
          </a:xfrm>
          <a:prstGeom prst="rect">
            <a:avLst/>
          </a:prstGeom>
          <a:noFill/>
          <a:ln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6DFC46D1-CE2F-EC8E-59D0-5824909B2C44}"/>
              </a:ext>
            </a:extLst>
          </p:cNvPr>
          <p:cNvCxnSpPr>
            <a:cxnSpLocks/>
          </p:cNvCxnSpPr>
          <p:nvPr/>
        </p:nvCxnSpPr>
        <p:spPr>
          <a:xfrm>
            <a:off x="2677950" y="1751626"/>
            <a:ext cx="881301" cy="0"/>
          </a:xfrm>
          <a:prstGeom prst="line">
            <a:avLst/>
          </a:prstGeom>
          <a:ln w="9525"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24" name="TextBox 423">
            <a:extLst>
              <a:ext uri="{FF2B5EF4-FFF2-40B4-BE49-F238E27FC236}">
                <a16:creationId xmlns:a16="http://schemas.microsoft.com/office/drawing/2014/main" id="{A88A4D25-3AE1-B029-C525-B7B79C437892}"/>
              </a:ext>
            </a:extLst>
          </p:cNvPr>
          <p:cNvSpPr txBox="1"/>
          <p:nvPr/>
        </p:nvSpPr>
        <p:spPr>
          <a:xfrm>
            <a:off x="3862350" y="95940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R1.S2</a:t>
            </a:r>
          </a:p>
        </p:txBody>
      </p:sp>
      <p:sp>
        <p:nvSpPr>
          <p:cNvPr id="425" name="Rectangle 424">
            <a:extLst>
              <a:ext uri="{FF2B5EF4-FFF2-40B4-BE49-F238E27FC236}">
                <a16:creationId xmlns:a16="http://schemas.microsoft.com/office/drawing/2014/main" id="{A58DB5F0-E975-6F2A-9B59-07EDE76A782B}"/>
              </a:ext>
            </a:extLst>
          </p:cNvPr>
          <p:cNvSpPr/>
          <p:nvPr/>
        </p:nvSpPr>
        <p:spPr>
          <a:xfrm>
            <a:off x="3862350" y="1157400"/>
            <a:ext cx="864539" cy="359243"/>
          </a:xfrm>
          <a:prstGeom prst="rect">
            <a:avLst/>
          </a:prstGeom>
          <a:noFill/>
          <a:ln>
            <a:solidFill>
              <a:srgbClr val="A02A93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26" name="Straight Connector 425">
            <a:extLst>
              <a:ext uri="{FF2B5EF4-FFF2-40B4-BE49-F238E27FC236}">
                <a16:creationId xmlns:a16="http://schemas.microsoft.com/office/drawing/2014/main" id="{C585986E-DEB4-3858-07BC-2783AA86452A}"/>
              </a:ext>
            </a:extLst>
          </p:cNvPr>
          <p:cNvCxnSpPr>
            <a:cxnSpLocks/>
          </p:cNvCxnSpPr>
          <p:nvPr/>
        </p:nvCxnSpPr>
        <p:spPr>
          <a:xfrm>
            <a:off x="3862350" y="1751626"/>
            <a:ext cx="881301" cy="0"/>
          </a:xfrm>
          <a:prstGeom prst="line">
            <a:avLst/>
          </a:prstGeom>
          <a:ln w="9525">
            <a:solidFill>
              <a:srgbClr val="A02A93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04" name="TextBox 703">
            <a:extLst>
              <a:ext uri="{FF2B5EF4-FFF2-40B4-BE49-F238E27FC236}">
                <a16:creationId xmlns:a16="http://schemas.microsoft.com/office/drawing/2014/main" id="{8983B472-727E-1058-87A2-3F5F7DB073EC}"/>
              </a:ext>
            </a:extLst>
          </p:cNvPr>
          <p:cNvSpPr txBox="1"/>
          <p:nvPr/>
        </p:nvSpPr>
        <p:spPr>
          <a:xfrm>
            <a:off x="5046750" y="95940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MA1.S2</a:t>
            </a:r>
          </a:p>
        </p:txBody>
      </p:sp>
      <p:sp>
        <p:nvSpPr>
          <p:cNvPr id="705" name="Rectangle 704">
            <a:extLst>
              <a:ext uri="{FF2B5EF4-FFF2-40B4-BE49-F238E27FC236}">
                <a16:creationId xmlns:a16="http://schemas.microsoft.com/office/drawing/2014/main" id="{19008F83-EF8C-F70A-8423-0BA031808573}"/>
              </a:ext>
            </a:extLst>
          </p:cNvPr>
          <p:cNvSpPr/>
          <p:nvPr/>
        </p:nvSpPr>
        <p:spPr>
          <a:xfrm>
            <a:off x="5046750" y="115740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28" name="TextBox 727">
            <a:extLst>
              <a:ext uri="{FF2B5EF4-FFF2-40B4-BE49-F238E27FC236}">
                <a16:creationId xmlns:a16="http://schemas.microsoft.com/office/drawing/2014/main" id="{76224589-00BD-64F8-724D-D369C28DD161}"/>
              </a:ext>
            </a:extLst>
          </p:cNvPr>
          <p:cNvSpPr txBox="1"/>
          <p:nvPr/>
        </p:nvSpPr>
        <p:spPr>
          <a:xfrm>
            <a:off x="5939550" y="959400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MB1.S2</a:t>
            </a:r>
          </a:p>
        </p:txBody>
      </p:sp>
      <p:sp>
        <p:nvSpPr>
          <p:cNvPr id="729" name="Rectangle 728">
            <a:extLst>
              <a:ext uri="{FF2B5EF4-FFF2-40B4-BE49-F238E27FC236}">
                <a16:creationId xmlns:a16="http://schemas.microsoft.com/office/drawing/2014/main" id="{DF69A9A0-03B2-61F7-70B4-5B21B9D3ABFD}"/>
              </a:ext>
            </a:extLst>
          </p:cNvPr>
          <p:cNvSpPr/>
          <p:nvPr/>
        </p:nvSpPr>
        <p:spPr>
          <a:xfrm>
            <a:off x="5939550" y="115740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94" name="TextBox 793">
            <a:extLst>
              <a:ext uri="{FF2B5EF4-FFF2-40B4-BE49-F238E27FC236}">
                <a16:creationId xmlns:a16="http://schemas.microsoft.com/office/drawing/2014/main" id="{E098860C-2A7A-9732-9D40-8A68B6289582}"/>
              </a:ext>
            </a:extLst>
          </p:cNvPr>
          <p:cNvSpPr txBox="1"/>
          <p:nvPr/>
        </p:nvSpPr>
        <p:spPr>
          <a:xfrm>
            <a:off x="187340" y="611370"/>
            <a:ext cx="59215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Backup Name: _________________________________________ Creation Date:____________________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801" name="TextBox 800">
            <a:extLst>
              <a:ext uri="{FF2B5EF4-FFF2-40B4-BE49-F238E27FC236}">
                <a16:creationId xmlns:a16="http://schemas.microsoft.com/office/drawing/2014/main" id="{D7A653AF-73CA-E64E-93FC-C1E5770D0ACD}"/>
              </a:ext>
            </a:extLst>
          </p:cNvPr>
          <p:cNvSpPr txBox="1"/>
          <p:nvPr/>
        </p:nvSpPr>
        <p:spPr>
          <a:xfrm>
            <a:off x="309150" y="864150"/>
            <a:ext cx="8645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100</a:t>
            </a:r>
            <a:endParaRPr lang="en-US" sz="800" b="1" noProof="0" dirty="0">
              <a:solidFill>
                <a:srgbClr val="FF0000"/>
              </a:solidFill>
            </a:endParaRPr>
          </a:p>
        </p:txBody>
      </p:sp>
      <p:sp>
        <p:nvSpPr>
          <p:cNvPr id="802" name="TextBox 801">
            <a:extLst>
              <a:ext uri="{FF2B5EF4-FFF2-40B4-BE49-F238E27FC236}">
                <a16:creationId xmlns:a16="http://schemas.microsoft.com/office/drawing/2014/main" id="{9574059C-E376-7582-0EE0-B538EBC6E7CD}"/>
              </a:ext>
            </a:extLst>
          </p:cNvPr>
          <p:cNvSpPr txBox="1"/>
          <p:nvPr/>
        </p:nvSpPr>
        <p:spPr>
          <a:xfrm>
            <a:off x="1493549" y="864150"/>
            <a:ext cx="8645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200</a:t>
            </a:r>
            <a:endParaRPr lang="en-US" sz="800" b="1" noProof="0" dirty="0">
              <a:solidFill>
                <a:srgbClr val="FF0000"/>
              </a:solidFill>
            </a:endParaRPr>
          </a:p>
        </p:txBody>
      </p:sp>
      <p:sp>
        <p:nvSpPr>
          <p:cNvPr id="803" name="TextBox 802">
            <a:extLst>
              <a:ext uri="{FF2B5EF4-FFF2-40B4-BE49-F238E27FC236}">
                <a16:creationId xmlns:a16="http://schemas.microsoft.com/office/drawing/2014/main" id="{BDC71D8C-A790-72F5-C080-62CAE919B02E}"/>
              </a:ext>
            </a:extLst>
          </p:cNvPr>
          <p:cNvSpPr txBox="1"/>
          <p:nvPr/>
        </p:nvSpPr>
        <p:spPr>
          <a:xfrm>
            <a:off x="2677681" y="864150"/>
            <a:ext cx="8645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300</a:t>
            </a:r>
            <a:endParaRPr lang="en-US" sz="800" b="1" noProof="0" dirty="0">
              <a:solidFill>
                <a:srgbClr val="FF0000"/>
              </a:solidFill>
            </a:endParaRPr>
          </a:p>
        </p:txBody>
      </p:sp>
      <p:sp>
        <p:nvSpPr>
          <p:cNvPr id="804" name="TextBox 803">
            <a:extLst>
              <a:ext uri="{FF2B5EF4-FFF2-40B4-BE49-F238E27FC236}">
                <a16:creationId xmlns:a16="http://schemas.microsoft.com/office/drawing/2014/main" id="{1CBBA368-7930-01B1-E1A4-97C695564CC4}"/>
              </a:ext>
            </a:extLst>
          </p:cNvPr>
          <p:cNvSpPr txBox="1"/>
          <p:nvPr/>
        </p:nvSpPr>
        <p:spPr>
          <a:xfrm>
            <a:off x="201150" y="1219073"/>
            <a:ext cx="923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1</a:t>
            </a:r>
            <a:endParaRPr lang="en-US" sz="800" b="1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2DB1CE-F4F4-092D-0028-0337F4994FC4}"/>
              </a:ext>
            </a:extLst>
          </p:cNvPr>
          <p:cNvSpPr txBox="1"/>
          <p:nvPr/>
        </p:nvSpPr>
        <p:spPr>
          <a:xfrm>
            <a:off x="201600" y="3361235"/>
            <a:ext cx="45252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Passphrase Hint:____________________________________________________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6AE8A9-2FCC-B1A7-112C-1F388AA641C4}"/>
              </a:ext>
            </a:extLst>
          </p:cNvPr>
          <p:cNvSpPr txBox="1"/>
          <p:nvPr/>
        </p:nvSpPr>
        <p:spPr>
          <a:xfrm>
            <a:off x="201599" y="3709471"/>
            <a:ext cx="4525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Recovery Verification Address:_______________________________________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327A38-1BD4-3266-3C7C-98D14DA0E946}"/>
              </a:ext>
            </a:extLst>
          </p:cNvPr>
          <p:cNvSpPr txBox="1"/>
          <p:nvPr/>
        </p:nvSpPr>
        <p:spPr>
          <a:xfrm>
            <a:off x="41291" y="4423993"/>
            <a:ext cx="6769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/>
              <a:t>© 2026 GRIFORTIS. </a:t>
            </a:r>
            <a:r>
              <a:rPr lang="en-US" sz="600" dirty="0"/>
              <a:t>Licensed under </a:t>
            </a:r>
            <a:r>
              <a:rPr lang="en-US" sz="600" b="1" dirty="0"/>
              <a:t>CC BY-NC-SA 4.0</a:t>
            </a:r>
            <a:r>
              <a:rPr lang="en-US" sz="600" dirty="0"/>
              <a:t> (Free for personal &amp; educational use). Underlying </a:t>
            </a:r>
            <a:r>
              <a:rPr lang="en-US" sz="600" dirty="0" err="1"/>
              <a:t>DuraShare</a:t>
            </a:r>
            <a:r>
              <a:rPr lang="en-US" sz="600" dirty="0"/>
              <a:t> protocol is Open Source. Provided "as is" without warranty. The user accepts full responsibility for the secure execution of the protocol. v0.7.1</a:t>
            </a:r>
            <a:endParaRPr lang="en-US" sz="600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4CF1FE-D4A2-F386-6056-321702EAFA68}"/>
              </a:ext>
            </a:extLst>
          </p:cNvPr>
          <p:cNvSpPr txBox="1"/>
          <p:nvPr/>
        </p:nvSpPr>
        <p:spPr>
          <a:xfrm>
            <a:off x="309150" y="599398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W1.S3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39D24B-A69C-0947-A7BD-9C607F806D67}"/>
              </a:ext>
            </a:extLst>
          </p:cNvPr>
          <p:cNvSpPr/>
          <p:nvPr/>
        </p:nvSpPr>
        <p:spPr>
          <a:xfrm>
            <a:off x="309150" y="6191980"/>
            <a:ext cx="864539" cy="359243"/>
          </a:xfrm>
          <a:prstGeom prst="rect">
            <a:avLst/>
          </a:prstGeom>
          <a:noFill/>
          <a:ln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 descr="A logo of a griffin&#10;&#10;AI-generated content may be incorrect.">
            <a:extLst>
              <a:ext uri="{FF2B5EF4-FFF2-40B4-BE49-F238E27FC236}">
                <a16:creationId xmlns:a16="http://schemas.microsoft.com/office/drawing/2014/main" id="{C9FFC9DD-AA95-222F-F9E3-89A23333AB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856" y="5233883"/>
            <a:ext cx="544198" cy="544198"/>
          </a:xfrm>
          <a:prstGeom prst="rect">
            <a:avLst/>
          </a:prstGeom>
          <a:noFill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41F676A-342C-9628-AA84-9060907E904A}"/>
              </a:ext>
            </a:extLst>
          </p:cNvPr>
          <p:cNvSpPr txBox="1"/>
          <p:nvPr/>
        </p:nvSpPr>
        <p:spPr>
          <a:xfrm>
            <a:off x="187340" y="5180779"/>
            <a:ext cx="5921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TOP SECRET!</a:t>
            </a:r>
            <a:r>
              <a:rPr lang="en-US" noProof="0" dirty="0"/>
              <a:t>  </a:t>
            </a:r>
            <a:r>
              <a:rPr lang="en-US" noProof="0" dirty="0" err="1"/>
              <a:t>DuraShare</a:t>
            </a:r>
            <a:r>
              <a:rPr lang="en-US" noProof="0" dirty="0"/>
              <a:t> – </a:t>
            </a:r>
            <a:r>
              <a:rPr lang="en-US" dirty="0"/>
              <a:t>3-of-5 TABConf8 – </a:t>
            </a:r>
            <a:r>
              <a:rPr lang="en-US" b="1" dirty="0"/>
              <a:t>Share 3 (S3)</a:t>
            </a:r>
            <a:endParaRPr lang="en-US" b="1" noProof="0" dirty="0">
              <a:solidFill>
                <a:srgbClr val="FF0000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DA62579-379D-F642-BD9F-4DBB157B503C}"/>
              </a:ext>
            </a:extLst>
          </p:cNvPr>
          <p:cNvCxnSpPr>
            <a:cxnSpLocks/>
          </p:cNvCxnSpPr>
          <p:nvPr/>
        </p:nvCxnSpPr>
        <p:spPr>
          <a:xfrm>
            <a:off x="309150" y="6786206"/>
            <a:ext cx="881301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BEC92AC-BCEB-A415-0683-962D7729D4A6}"/>
              </a:ext>
            </a:extLst>
          </p:cNvPr>
          <p:cNvSpPr txBox="1"/>
          <p:nvPr/>
        </p:nvSpPr>
        <p:spPr>
          <a:xfrm>
            <a:off x="1493550" y="599398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W2.S3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9E72A2-4977-B6FB-C973-C3A5D39312ED}"/>
              </a:ext>
            </a:extLst>
          </p:cNvPr>
          <p:cNvSpPr/>
          <p:nvPr/>
        </p:nvSpPr>
        <p:spPr>
          <a:xfrm>
            <a:off x="1493550" y="6191980"/>
            <a:ext cx="864539" cy="359243"/>
          </a:xfrm>
          <a:prstGeom prst="rect">
            <a:avLst/>
          </a:prstGeom>
          <a:noFill/>
          <a:ln>
            <a:solidFill>
              <a:srgbClr val="0F9ED5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81C0F7-4D09-3CA4-CC3D-27168C4790B8}"/>
              </a:ext>
            </a:extLst>
          </p:cNvPr>
          <p:cNvCxnSpPr>
            <a:cxnSpLocks/>
          </p:cNvCxnSpPr>
          <p:nvPr/>
        </p:nvCxnSpPr>
        <p:spPr>
          <a:xfrm>
            <a:off x="1493550" y="6786206"/>
            <a:ext cx="881301" cy="0"/>
          </a:xfrm>
          <a:prstGeom prst="line">
            <a:avLst/>
          </a:prstGeom>
          <a:ln w="9525"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09458E9-1B12-5DD9-45F6-A38503566895}"/>
              </a:ext>
            </a:extLst>
          </p:cNvPr>
          <p:cNvSpPr txBox="1"/>
          <p:nvPr/>
        </p:nvSpPr>
        <p:spPr>
          <a:xfrm>
            <a:off x="2677950" y="599398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W3.S3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B6EF512-2A85-E849-8654-F5EE605F36EE}"/>
              </a:ext>
            </a:extLst>
          </p:cNvPr>
          <p:cNvSpPr/>
          <p:nvPr/>
        </p:nvSpPr>
        <p:spPr>
          <a:xfrm>
            <a:off x="2677950" y="6191980"/>
            <a:ext cx="864539" cy="359243"/>
          </a:xfrm>
          <a:prstGeom prst="rect">
            <a:avLst/>
          </a:prstGeom>
          <a:noFill/>
          <a:ln>
            <a:solidFill>
              <a:srgbClr val="4EA72E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FD7CDA6-3F48-DDCE-EC73-C72650FBC523}"/>
              </a:ext>
            </a:extLst>
          </p:cNvPr>
          <p:cNvCxnSpPr>
            <a:cxnSpLocks/>
          </p:cNvCxnSpPr>
          <p:nvPr/>
        </p:nvCxnSpPr>
        <p:spPr>
          <a:xfrm>
            <a:off x="2677950" y="6786206"/>
            <a:ext cx="881301" cy="0"/>
          </a:xfrm>
          <a:prstGeom prst="line">
            <a:avLst/>
          </a:prstGeom>
          <a:ln w="9525"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C761D89-7D8A-8EEC-CF37-D5CF203202C9}"/>
              </a:ext>
            </a:extLst>
          </p:cNvPr>
          <p:cNvSpPr txBox="1"/>
          <p:nvPr/>
        </p:nvSpPr>
        <p:spPr>
          <a:xfrm>
            <a:off x="3862350" y="599398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R1.S3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8823D28-81F7-5143-5ED2-0A3C6E2B73B8}"/>
              </a:ext>
            </a:extLst>
          </p:cNvPr>
          <p:cNvSpPr/>
          <p:nvPr/>
        </p:nvSpPr>
        <p:spPr>
          <a:xfrm>
            <a:off x="3862350" y="6191980"/>
            <a:ext cx="864539" cy="359243"/>
          </a:xfrm>
          <a:prstGeom prst="rect">
            <a:avLst/>
          </a:prstGeom>
          <a:noFill/>
          <a:ln>
            <a:solidFill>
              <a:srgbClr val="A02A93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F632798-51CA-3BBA-42E5-A0E4565C6E1F}"/>
              </a:ext>
            </a:extLst>
          </p:cNvPr>
          <p:cNvCxnSpPr>
            <a:cxnSpLocks/>
          </p:cNvCxnSpPr>
          <p:nvPr/>
        </p:nvCxnSpPr>
        <p:spPr>
          <a:xfrm>
            <a:off x="3862350" y="6786206"/>
            <a:ext cx="881301" cy="0"/>
          </a:xfrm>
          <a:prstGeom prst="line">
            <a:avLst/>
          </a:prstGeom>
          <a:ln w="9525">
            <a:solidFill>
              <a:srgbClr val="A02A93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E013A81-E3C7-1CB6-0514-6BEDF82F6EEB}"/>
              </a:ext>
            </a:extLst>
          </p:cNvPr>
          <p:cNvSpPr txBox="1"/>
          <p:nvPr/>
        </p:nvSpPr>
        <p:spPr>
          <a:xfrm>
            <a:off x="5046750" y="599398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MA1.S3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CF105FE-1176-9E02-95A3-61F7A61076A4}"/>
              </a:ext>
            </a:extLst>
          </p:cNvPr>
          <p:cNvSpPr/>
          <p:nvPr/>
        </p:nvSpPr>
        <p:spPr>
          <a:xfrm>
            <a:off x="5046750" y="619198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95F468-1BA8-07D5-E64B-DDABE789FB84}"/>
              </a:ext>
            </a:extLst>
          </p:cNvPr>
          <p:cNvSpPr txBox="1"/>
          <p:nvPr/>
        </p:nvSpPr>
        <p:spPr>
          <a:xfrm>
            <a:off x="5939550" y="5993980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MB1.S3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A20FFDB-86A5-0BA8-05D3-1B4144EC435A}"/>
              </a:ext>
            </a:extLst>
          </p:cNvPr>
          <p:cNvSpPr/>
          <p:nvPr/>
        </p:nvSpPr>
        <p:spPr>
          <a:xfrm>
            <a:off x="5939550" y="619198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872BAEF-3247-FC8F-0709-B82EA73A5946}"/>
              </a:ext>
            </a:extLst>
          </p:cNvPr>
          <p:cNvSpPr txBox="1"/>
          <p:nvPr/>
        </p:nvSpPr>
        <p:spPr>
          <a:xfrm>
            <a:off x="187340" y="5645950"/>
            <a:ext cx="59215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Backup Name: _________________________________________ Creation Date:____________________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C17E9C9-61F7-41B4-52AF-5C3F9A6F4064}"/>
              </a:ext>
            </a:extLst>
          </p:cNvPr>
          <p:cNvSpPr txBox="1"/>
          <p:nvPr/>
        </p:nvSpPr>
        <p:spPr>
          <a:xfrm>
            <a:off x="309150" y="5898730"/>
            <a:ext cx="8645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100</a:t>
            </a:r>
            <a:endParaRPr lang="en-US" sz="800" b="1" noProof="0" dirty="0">
              <a:solidFill>
                <a:srgbClr val="FF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9774099-EAFF-3FFD-C8F9-8C55213E5FC8}"/>
              </a:ext>
            </a:extLst>
          </p:cNvPr>
          <p:cNvSpPr txBox="1"/>
          <p:nvPr/>
        </p:nvSpPr>
        <p:spPr>
          <a:xfrm>
            <a:off x="1493549" y="5898730"/>
            <a:ext cx="8645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200</a:t>
            </a:r>
            <a:endParaRPr lang="en-US" sz="800" b="1" noProof="0" dirty="0">
              <a:solidFill>
                <a:srgbClr val="FF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48E53A0-B5A0-BD01-F7B6-2399DAF5ACBA}"/>
              </a:ext>
            </a:extLst>
          </p:cNvPr>
          <p:cNvSpPr txBox="1"/>
          <p:nvPr/>
        </p:nvSpPr>
        <p:spPr>
          <a:xfrm>
            <a:off x="2677681" y="5898730"/>
            <a:ext cx="8645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300</a:t>
            </a:r>
            <a:endParaRPr lang="en-US" sz="800" b="1" noProof="0" dirty="0">
              <a:solidFill>
                <a:srgbClr val="FF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37AA061-6F46-B4CA-D8B0-1A2F910E5D6F}"/>
              </a:ext>
            </a:extLst>
          </p:cNvPr>
          <p:cNvSpPr txBox="1"/>
          <p:nvPr/>
        </p:nvSpPr>
        <p:spPr>
          <a:xfrm>
            <a:off x="201150" y="6253653"/>
            <a:ext cx="923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1</a:t>
            </a:r>
            <a:endParaRPr lang="en-US" sz="800" b="1" noProof="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82BD452-9C22-EA66-F942-5CAD04F54175}"/>
              </a:ext>
            </a:extLst>
          </p:cNvPr>
          <p:cNvSpPr txBox="1"/>
          <p:nvPr/>
        </p:nvSpPr>
        <p:spPr>
          <a:xfrm>
            <a:off x="201600" y="8395815"/>
            <a:ext cx="45252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Passphrase Hint:____________________________________________________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CA9B88B-8035-E123-C231-B53C04EFDA9C}"/>
              </a:ext>
            </a:extLst>
          </p:cNvPr>
          <p:cNvSpPr txBox="1"/>
          <p:nvPr/>
        </p:nvSpPr>
        <p:spPr>
          <a:xfrm>
            <a:off x="201599" y="8744051"/>
            <a:ext cx="4525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Recovery Verification Address:_______________________________________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8EFF99A-3F4D-CAD5-835D-D13BE45E4384}"/>
              </a:ext>
            </a:extLst>
          </p:cNvPr>
          <p:cNvSpPr txBox="1"/>
          <p:nvPr/>
        </p:nvSpPr>
        <p:spPr>
          <a:xfrm>
            <a:off x="41291" y="9458573"/>
            <a:ext cx="6769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/>
              <a:t>© 2026 GRIFORTIS. </a:t>
            </a:r>
            <a:r>
              <a:rPr lang="en-US" sz="600" dirty="0"/>
              <a:t>Licensed under </a:t>
            </a:r>
            <a:r>
              <a:rPr lang="en-US" sz="600" b="1" dirty="0"/>
              <a:t>CC BY-NC-SA 4.0</a:t>
            </a:r>
            <a:r>
              <a:rPr lang="en-US" sz="600" dirty="0"/>
              <a:t> (Free for personal &amp; educational use). Underlying </a:t>
            </a:r>
            <a:r>
              <a:rPr lang="en-US" sz="600" dirty="0" err="1"/>
              <a:t>DuraShare</a:t>
            </a:r>
            <a:r>
              <a:rPr lang="en-US" sz="600" dirty="0"/>
              <a:t> protocol is Open Source. Provided "as is" without warranty. The user accepts full responsibility for the secure execution of the protocol. v0.7.1</a:t>
            </a:r>
            <a:endParaRPr lang="en-US" sz="600" noProof="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35D006A-D9E6-34B1-02AE-7D9D81F91B6A}"/>
              </a:ext>
            </a:extLst>
          </p:cNvPr>
          <p:cNvSpPr txBox="1"/>
          <p:nvPr/>
        </p:nvSpPr>
        <p:spPr>
          <a:xfrm>
            <a:off x="251727" y="411609"/>
            <a:ext cx="5695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This page holds part of a secret. </a:t>
            </a:r>
            <a:r>
              <a:rPr lang="en-US" sz="800" b="1" dirty="0">
                <a:solidFill>
                  <a:srgbClr val="FF0000"/>
                </a:solidFill>
              </a:rPr>
              <a:t>DO NOT REVEAL, PHOTOGRAPH OR DIGITIZE!</a:t>
            </a:r>
            <a:r>
              <a:rPr lang="en-US" sz="800" dirty="0"/>
              <a:t> Any exposure can lead to loss of funds.</a:t>
            </a:r>
            <a:endParaRPr lang="en-US" sz="600" noProof="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1F17749-E9F8-AE34-53ED-EEFE4A5CABE8}"/>
              </a:ext>
            </a:extLst>
          </p:cNvPr>
          <p:cNvSpPr txBox="1"/>
          <p:nvPr/>
        </p:nvSpPr>
        <p:spPr>
          <a:xfrm>
            <a:off x="187340" y="5440619"/>
            <a:ext cx="5695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This page holds part of a secret. </a:t>
            </a:r>
            <a:r>
              <a:rPr lang="en-US" sz="800" b="1" dirty="0">
                <a:solidFill>
                  <a:srgbClr val="FF0000"/>
                </a:solidFill>
              </a:rPr>
              <a:t>DO NOT REVEAL, PHOTOGRAPH OR DIGITIZE!</a:t>
            </a:r>
            <a:r>
              <a:rPr lang="en-US" sz="800" dirty="0"/>
              <a:t> Any exposure can lead to loss of funds.</a:t>
            </a:r>
            <a:endParaRPr lang="en-US" sz="600" noProof="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4A646AC2-7E1A-2DA4-F177-A9700FE27F9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677" t="13073" r="73757" b="60369"/>
          <a:stretch>
            <a:fillRect/>
          </a:stretch>
        </p:blipFill>
        <p:spPr>
          <a:xfrm>
            <a:off x="4872748" y="7470595"/>
            <a:ext cx="1839391" cy="1865268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FB6868DA-E143-16A8-46C2-9908DB5AFBA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677" t="13073" r="73757" b="60369"/>
          <a:stretch>
            <a:fillRect/>
          </a:stretch>
        </p:blipFill>
        <p:spPr>
          <a:xfrm>
            <a:off x="4872748" y="2429246"/>
            <a:ext cx="1839391" cy="1865268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B847DB34-A826-9C61-5C13-E49ED08B695F}"/>
              </a:ext>
            </a:extLst>
          </p:cNvPr>
          <p:cNvSpPr txBox="1"/>
          <p:nvPr/>
        </p:nvSpPr>
        <p:spPr>
          <a:xfrm>
            <a:off x="201599" y="4049068"/>
            <a:ext cx="4525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BIP39 Language:______________ Session:_____________________________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B322F47-F883-50D7-56EF-63AF2E038808}"/>
              </a:ext>
            </a:extLst>
          </p:cNvPr>
          <p:cNvSpPr txBox="1"/>
          <p:nvPr/>
        </p:nvSpPr>
        <p:spPr>
          <a:xfrm>
            <a:off x="201599" y="9083648"/>
            <a:ext cx="4525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BIP39 Language:________________ Session:___________________________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9622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96">
            <a:extLst>
              <a:ext uri="{FF2B5EF4-FFF2-40B4-BE49-F238E27FC236}">
                <a16:creationId xmlns:a16="http://schemas.microsoft.com/office/drawing/2014/main" id="{036FE7E6-1085-427A-2A06-1655A56B683B}"/>
              </a:ext>
            </a:extLst>
          </p:cNvPr>
          <p:cNvSpPr txBox="1"/>
          <p:nvPr/>
        </p:nvSpPr>
        <p:spPr>
          <a:xfrm>
            <a:off x="309150" y="95940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W1.S4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0DA1DA7C-AE1D-E424-C375-A3FD894B28AD}"/>
              </a:ext>
            </a:extLst>
          </p:cNvPr>
          <p:cNvSpPr/>
          <p:nvPr/>
        </p:nvSpPr>
        <p:spPr>
          <a:xfrm>
            <a:off x="309150" y="1157400"/>
            <a:ext cx="864539" cy="359243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6" name="Picture 65" descr="A logo of a griffin&#10;&#10;AI-generated content may be incorrect.">
            <a:extLst>
              <a:ext uri="{FF2B5EF4-FFF2-40B4-BE49-F238E27FC236}">
                <a16:creationId xmlns:a16="http://schemas.microsoft.com/office/drawing/2014/main" id="{731AA023-C156-A0F4-FC54-937EE9100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856" y="199303"/>
            <a:ext cx="544198" cy="544198"/>
          </a:xfrm>
          <a:prstGeom prst="rect">
            <a:avLst/>
          </a:prstGeom>
          <a:noFill/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4AF5064-C36B-9B3E-A23F-2816D75C152F}"/>
              </a:ext>
            </a:extLst>
          </p:cNvPr>
          <p:cNvSpPr txBox="1"/>
          <p:nvPr/>
        </p:nvSpPr>
        <p:spPr>
          <a:xfrm>
            <a:off x="187340" y="146199"/>
            <a:ext cx="5921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TOP SECRET!</a:t>
            </a:r>
            <a:r>
              <a:rPr lang="en-US" noProof="0" dirty="0"/>
              <a:t>  </a:t>
            </a:r>
            <a:r>
              <a:rPr lang="en-US" noProof="0" dirty="0" err="1"/>
              <a:t>DuraShare</a:t>
            </a:r>
            <a:r>
              <a:rPr lang="en-US" noProof="0" dirty="0"/>
              <a:t> – </a:t>
            </a:r>
            <a:r>
              <a:rPr lang="en-US" dirty="0"/>
              <a:t>3-of-5 TABConf8 – </a:t>
            </a:r>
            <a:r>
              <a:rPr lang="en-US" b="1" dirty="0"/>
              <a:t>Share 4 (S4)</a:t>
            </a:r>
            <a:endParaRPr lang="en-US" b="1" noProof="0" dirty="0">
              <a:solidFill>
                <a:srgbClr val="FF0000"/>
              </a:solidFill>
            </a:endParaRP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3B5DB734-3DAB-E4BD-C051-EC7D8BE1E654}"/>
              </a:ext>
            </a:extLst>
          </p:cNvPr>
          <p:cNvCxnSpPr>
            <a:cxnSpLocks/>
          </p:cNvCxnSpPr>
          <p:nvPr/>
        </p:nvCxnSpPr>
        <p:spPr>
          <a:xfrm>
            <a:off x="309150" y="1751626"/>
            <a:ext cx="881301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19" name="TextBox 518">
            <a:extLst>
              <a:ext uri="{FF2B5EF4-FFF2-40B4-BE49-F238E27FC236}">
                <a16:creationId xmlns:a16="http://schemas.microsoft.com/office/drawing/2014/main" id="{AD7ED372-D0ED-2FA0-17FD-C6E6FD8E428B}"/>
              </a:ext>
            </a:extLst>
          </p:cNvPr>
          <p:cNvSpPr txBox="1"/>
          <p:nvPr/>
        </p:nvSpPr>
        <p:spPr>
          <a:xfrm>
            <a:off x="1493550" y="95940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W2.S4</a:t>
            </a:r>
          </a:p>
        </p:txBody>
      </p:sp>
      <p:sp>
        <p:nvSpPr>
          <p:cNvPr id="520" name="Rectangle 519">
            <a:extLst>
              <a:ext uri="{FF2B5EF4-FFF2-40B4-BE49-F238E27FC236}">
                <a16:creationId xmlns:a16="http://schemas.microsoft.com/office/drawing/2014/main" id="{042680D3-9EDF-CDF9-F955-C9A9127F48B6}"/>
              </a:ext>
            </a:extLst>
          </p:cNvPr>
          <p:cNvSpPr/>
          <p:nvPr/>
        </p:nvSpPr>
        <p:spPr>
          <a:xfrm>
            <a:off x="1493550" y="1157400"/>
            <a:ext cx="864539" cy="359243"/>
          </a:xfrm>
          <a:prstGeom prst="rect">
            <a:avLst/>
          </a:prstGeom>
          <a:noFill/>
          <a:ln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21" name="Straight Connector 520">
            <a:extLst>
              <a:ext uri="{FF2B5EF4-FFF2-40B4-BE49-F238E27FC236}">
                <a16:creationId xmlns:a16="http://schemas.microsoft.com/office/drawing/2014/main" id="{12D48BC3-0F87-F0C7-7DE5-58145F0CEB76}"/>
              </a:ext>
            </a:extLst>
          </p:cNvPr>
          <p:cNvCxnSpPr>
            <a:cxnSpLocks/>
          </p:cNvCxnSpPr>
          <p:nvPr/>
        </p:nvCxnSpPr>
        <p:spPr>
          <a:xfrm>
            <a:off x="1493550" y="1751626"/>
            <a:ext cx="881301" cy="0"/>
          </a:xfrm>
          <a:prstGeom prst="line">
            <a:avLst/>
          </a:prstGeom>
          <a:ln w="9525"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43" name="TextBox 342">
            <a:extLst>
              <a:ext uri="{FF2B5EF4-FFF2-40B4-BE49-F238E27FC236}">
                <a16:creationId xmlns:a16="http://schemas.microsoft.com/office/drawing/2014/main" id="{77BBB1C2-46B8-5847-BA13-400DABF999F2}"/>
              </a:ext>
            </a:extLst>
          </p:cNvPr>
          <p:cNvSpPr txBox="1"/>
          <p:nvPr/>
        </p:nvSpPr>
        <p:spPr>
          <a:xfrm>
            <a:off x="2677950" y="95940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W3.S4</a:t>
            </a:r>
          </a:p>
        </p:txBody>
      </p:sp>
      <p:sp>
        <p:nvSpPr>
          <p:cNvPr id="344" name="Rectangle 343">
            <a:extLst>
              <a:ext uri="{FF2B5EF4-FFF2-40B4-BE49-F238E27FC236}">
                <a16:creationId xmlns:a16="http://schemas.microsoft.com/office/drawing/2014/main" id="{38AD03C9-AF0D-F736-B726-8CE960437676}"/>
              </a:ext>
            </a:extLst>
          </p:cNvPr>
          <p:cNvSpPr/>
          <p:nvPr/>
        </p:nvSpPr>
        <p:spPr>
          <a:xfrm>
            <a:off x="2677950" y="1157400"/>
            <a:ext cx="864539" cy="359243"/>
          </a:xfrm>
          <a:prstGeom prst="rect">
            <a:avLst/>
          </a:prstGeom>
          <a:noFill/>
          <a:ln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6DFC46D1-CE2F-EC8E-59D0-5824909B2C44}"/>
              </a:ext>
            </a:extLst>
          </p:cNvPr>
          <p:cNvCxnSpPr>
            <a:cxnSpLocks/>
          </p:cNvCxnSpPr>
          <p:nvPr/>
        </p:nvCxnSpPr>
        <p:spPr>
          <a:xfrm>
            <a:off x="2677950" y="1751626"/>
            <a:ext cx="881301" cy="0"/>
          </a:xfrm>
          <a:prstGeom prst="line">
            <a:avLst/>
          </a:prstGeom>
          <a:ln w="9525"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24" name="TextBox 423">
            <a:extLst>
              <a:ext uri="{FF2B5EF4-FFF2-40B4-BE49-F238E27FC236}">
                <a16:creationId xmlns:a16="http://schemas.microsoft.com/office/drawing/2014/main" id="{A88A4D25-3AE1-B029-C525-B7B79C437892}"/>
              </a:ext>
            </a:extLst>
          </p:cNvPr>
          <p:cNvSpPr txBox="1"/>
          <p:nvPr/>
        </p:nvSpPr>
        <p:spPr>
          <a:xfrm>
            <a:off x="3862350" y="95940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R1.S4</a:t>
            </a:r>
          </a:p>
        </p:txBody>
      </p:sp>
      <p:sp>
        <p:nvSpPr>
          <p:cNvPr id="425" name="Rectangle 424">
            <a:extLst>
              <a:ext uri="{FF2B5EF4-FFF2-40B4-BE49-F238E27FC236}">
                <a16:creationId xmlns:a16="http://schemas.microsoft.com/office/drawing/2014/main" id="{A58DB5F0-E975-6F2A-9B59-07EDE76A782B}"/>
              </a:ext>
            </a:extLst>
          </p:cNvPr>
          <p:cNvSpPr/>
          <p:nvPr/>
        </p:nvSpPr>
        <p:spPr>
          <a:xfrm>
            <a:off x="3862350" y="1157400"/>
            <a:ext cx="864539" cy="359243"/>
          </a:xfrm>
          <a:prstGeom prst="rect">
            <a:avLst/>
          </a:prstGeom>
          <a:noFill/>
          <a:ln>
            <a:solidFill>
              <a:srgbClr val="A02A93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26" name="Straight Connector 425">
            <a:extLst>
              <a:ext uri="{FF2B5EF4-FFF2-40B4-BE49-F238E27FC236}">
                <a16:creationId xmlns:a16="http://schemas.microsoft.com/office/drawing/2014/main" id="{C585986E-DEB4-3858-07BC-2783AA86452A}"/>
              </a:ext>
            </a:extLst>
          </p:cNvPr>
          <p:cNvCxnSpPr>
            <a:cxnSpLocks/>
          </p:cNvCxnSpPr>
          <p:nvPr/>
        </p:nvCxnSpPr>
        <p:spPr>
          <a:xfrm>
            <a:off x="3862350" y="1751626"/>
            <a:ext cx="881301" cy="0"/>
          </a:xfrm>
          <a:prstGeom prst="line">
            <a:avLst/>
          </a:prstGeom>
          <a:ln w="9525">
            <a:solidFill>
              <a:srgbClr val="A02A93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04" name="TextBox 703">
            <a:extLst>
              <a:ext uri="{FF2B5EF4-FFF2-40B4-BE49-F238E27FC236}">
                <a16:creationId xmlns:a16="http://schemas.microsoft.com/office/drawing/2014/main" id="{8983B472-727E-1058-87A2-3F5F7DB073EC}"/>
              </a:ext>
            </a:extLst>
          </p:cNvPr>
          <p:cNvSpPr txBox="1"/>
          <p:nvPr/>
        </p:nvSpPr>
        <p:spPr>
          <a:xfrm>
            <a:off x="5046750" y="95940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MA1.S4</a:t>
            </a:r>
          </a:p>
        </p:txBody>
      </p:sp>
      <p:sp>
        <p:nvSpPr>
          <p:cNvPr id="705" name="Rectangle 704">
            <a:extLst>
              <a:ext uri="{FF2B5EF4-FFF2-40B4-BE49-F238E27FC236}">
                <a16:creationId xmlns:a16="http://schemas.microsoft.com/office/drawing/2014/main" id="{19008F83-EF8C-F70A-8423-0BA031808573}"/>
              </a:ext>
            </a:extLst>
          </p:cNvPr>
          <p:cNvSpPr/>
          <p:nvPr/>
        </p:nvSpPr>
        <p:spPr>
          <a:xfrm>
            <a:off x="5046750" y="115740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28" name="TextBox 727">
            <a:extLst>
              <a:ext uri="{FF2B5EF4-FFF2-40B4-BE49-F238E27FC236}">
                <a16:creationId xmlns:a16="http://schemas.microsoft.com/office/drawing/2014/main" id="{76224589-00BD-64F8-724D-D369C28DD161}"/>
              </a:ext>
            </a:extLst>
          </p:cNvPr>
          <p:cNvSpPr txBox="1"/>
          <p:nvPr/>
        </p:nvSpPr>
        <p:spPr>
          <a:xfrm>
            <a:off x="5939550" y="959400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MB1.S4</a:t>
            </a:r>
          </a:p>
        </p:txBody>
      </p:sp>
      <p:sp>
        <p:nvSpPr>
          <p:cNvPr id="729" name="Rectangle 728">
            <a:extLst>
              <a:ext uri="{FF2B5EF4-FFF2-40B4-BE49-F238E27FC236}">
                <a16:creationId xmlns:a16="http://schemas.microsoft.com/office/drawing/2014/main" id="{DF69A9A0-03B2-61F7-70B4-5B21B9D3ABFD}"/>
              </a:ext>
            </a:extLst>
          </p:cNvPr>
          <p:cNvSpPr/>
          <p:nvPr/>
        </p:nvSpPr>
        <p:spPr>
          <a:xfrm>
            <a:off x="5939550" y="115740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94" name="TextBox 793">
            <a:extLst>
              <a:ext uri="{FF2B5EF4-FFF2-40B4-BE49-F238E27FC236}">
                <a16:creationId xmlns:a16="http://schemas.microsoft.com/office/drawing/2014/main" id="{E098860C-2A7A-9732-9D40-8A68B6289582}"/>
              </a:ext>
            </a:extLst>
          </p:cNvPr>
          <p:cNvSpPr txBox="1"/>
          <p:nvPr/>
        </p:nvSpPr>
        <p:spPr>
          <a:xfrm>
            <a:off x="187340" y="611370"/>
            <a:ext cx="59215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Backup Name: _________________________________________ Creation Date:____________________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801" name="TextBox 800">
            <a:extLst>
              <a:ext uri="{FF2B5EF4-FFF2-40B4-BE49-F238E27FC236}">
                <a16:creationId xmlns:a16="http://schemas.microsoft.com/office/drawing/2014/main" id="{D7A653AF-73CA-E64E-93FC-C1E5770D0ACD}"/>
              </a:ext>
            </a:extLst>
          </p:cNvPr>
          <p:cNvSpPr txBox="1"/>
          <p:nvPr/>
        </p:nvSpPr>
        <p:spPr>
          <a:xfrm>
            <a:off x="309150" y="864150"/>
            <a:ext cx="8645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100</a:t>
            </a:r>
            <a:endParaRPr lang="en-US" sz="800" b="1" noProof="0" dirty="0">
              <a:solidFill>
                <a:srgbClr val="FF0000"/>
              </a:solidFill>
            </a:endParaRPr>
          </a:p>
        </p:txBody>
      </p:sp>
      <p:sp>
        <p:nvSpPr>
          <p:cNvPr id="802" name="TextBox 801">
            <a:extLst>
              <a:ext uri="{FF2B5EF4-FFF2-40B4-BE49-F238E27FC236}">
                <a16:creationId xmlns:a16="http://schemas.microsoft.com/office/drawing/2014/main" id="{9574059C-E376-7582-0EE0-B538EBC6E7CD}"/>
              </a:ext>
            </a:extLst>
          </p:cNvPr>
          <p:cNvSpPr txBox="1"/>
          <p:nvPr/>
        </p:nvSpPr>
        <p:spPr>
          <a:xfrm>
            <a:off x="1493549" y="864150"/>
            <a:ext cx="8645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200</a:t>
            </a:r>
            <a:endParaRPr lang="en-US" sz="800" b="1" noProof="0" dirty="0">
              <a:solidFill>
                <a:srgbClr val="FF0000"/>
              </a:solidFill>
            </a:endParaRPr>
          </a:p>
        </p:txBody>
      </p:sp>
      <p:sp>
        <p:nvSpPr>
          <p:cNvPr id="803" name="TextBox 802">
            <a:extLst>
              <a:ext uri="{FF2B5EF4-FFF2-40B4-BE49-F238E27FC236}">
                <a16:creationId xmlns:a16="http://schemas.microsoft.com/office/drawing/2014/main" id="{BDC71D8C-A790-72F5-C080-62CAE919B02E}"/>
              </a:ext>
            </a:extLst>
          </p:cNvPr>
          <p:cNvSpPr txBox="1"/>
          <p:nvPr/>
        </p:nvSpPr>
        <p:spPr>
          <a:xfrm>
            <a:off x="2677681" y="864150"/>
            <a:ext cx="8645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300</a:t>
            </a:r>
            <a:endParaRPr lang="en-US" sz="800" b="1" noProof="0" dirty="0">
              <a:solidFill>
                <a:srgbClr val="FF0000"/>
              </a:solidFill>
            </a:endParaRPr>
          </a:p>
        </p:txBody>
      </p:sp>
      <p:sp>
        <p:nvSpPr>
          <p:cNvPr id="804" name="TextBox 803">
            <a:extLst>
              <a:ext uri="{FF2B5EF4-FFF2-40B4-BE49-F238E27FC236}">
                <a16:creationId xmlns:a16="http://schemas.microsoft.com/office/drawing/2014/main" id="{1CBBA368-7930-01B1-E1A4-97C695564CC4}"/>
              </a:ext>
            </a:extLst>
          </p:cNvPr>
          <p:cNvSpPr txBox="1"/>
          <p:nvPr/>
        </p:nvSpPr>
        <p:spPr>
          <a:xfrm>
            <a:off x="201150" y="1219073"/>
            <a:ext cx="923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1</a:t>
            </a:r>
            <a:endParaRPr lang="en-US" sz="800" b="1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2DB1CE-F4F4-092D-0028-0337F4994FC4}"/>
              </a:ext>
            </a:extLst>
          </p:cNvPr>
          <p:cNvSpPr txBox="1"/>
          <p:nvPr/>
        </p:nvSpPr>
        <p:spPr>
          <a:xfrm>
            <a:off x="201600" y="3361235"/>
            <a:ext cx="45252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Passphrase Hint:____________________________________________________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6AE8A9-2FCC-B1A7-112C-1F388AA641C4}"/>
              </a:ext>
            </a:extLst>
          </p:cNvPr>
          <p:cNvSpPr txBox="1"/>
          <p:nvPr/>
        </p:nvSpPr>
        <p:spPr>
          <a:xfrm>
            <a:off x="201599" y="3709471"/>
            <a:ext cx="4525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Recovery Verification Address:_______________________________________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327A38-1BD4-3266-3C7C-98D14DA0E946}"/>
              </a:ext>
            </a:extLst>
          </p:cNvPr>
          <p:cNvSpPr txBox="1"/>
          <p:nvPr/>
        </p:nvSpPr>
        <p:spPr>
          <a:xfrm>
            <a:off x="41291" y="4423993"/>
            <a:ext cx="6769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/>
              <a:t>© 2026 GRIFORTIS. </a:t>
            </a:r>
            <a:r>
              <a:rPr lang="en-US" sz="600" dirty="0"/>
              <a:t>Licensed under </a:t>
            </a:r>
            <a:r>
              <a:rPr lang="en-US" sz="600" b="1" dirty="0"/>
              <a:t>CC BY-NC-SA 4.0</a:t>
            </a:r>
            <a:r>
              <a:rPr lang="en-US" sz="600" dirty="0"/>
              <a:t> (Free for personal &amp; educational use). Underlying </a:t>
            </a:r>
            <a:r>
              <a:rPr lang="en-US" sz="600" dirty="0" err="1"/>
              <a:t>DuraShare</a:t>
            </a:r>
            <a:r>
              <a:rPr lang="en-US" sz="600" dirty="0"/>
              <a:t> protocol is Open Source. Provided "as is" without warranty. The user accepts full responsibility for the secure execution of the protocol. v0.7.1</a:t>
            </a:r>
            <a:endParaRPr lang="en-US" sz="600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4CF1FE-D4A2-F386-6056-321702EAFA68}"/>
              </a:ext>
            </a:extLst>
          </p:cNvPr>
          <p:cNvSpPr txBox="1"/>
          <p:nvPr/>
        </p:nvSpPr>
        <p:spPr>
          <a:xfrm>
            <a:off x="309150" y="599398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W1.S5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39D24B-A69C-0947-A7BD-9C607F806D67}"/>
              </a:ext>
            </a:extLst>
          </p:cNvPr>
          <p:cNvSpPr/>
          <p:nvPr/>
        </p:nvSpPr>
        <p:spPr>
          <a:xfrm>
            <a:off x="309150" y="6191980"/>
            <a:ext cx="864539" cy="359243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 descr="A logo of a griffin&#10;&#10;AI-generated content may be incorrect.">
            <a:extLst>
              <a:ext uri="{FF2B5EF4-FFF2-40B4-BE49-F238E27FC236}">
                <a16:creationId xmlns:a16="http://schemas.microsoft.com/office/drawing/2014/main" id="{C9FFC9DD-AA95-222F-F9E3-89A23333AB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856" y="5233883"/>
            <a:ext cx="544198" cy="544198"/>
          </a:xfrm>
          <a:prstGeom prst="rect">
            <a:avLst/>
          </a:prstGeom>
          <a:noFill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41F676A-342C-9628-AA84-9060907E904A}"/>
              </a:ext>
            </a:extLst>
          </p:cNvPr>
          <p:cNvSpPr txBox="1"/>
          <p:nvPr/>
        </p:nvSpPr>
        <p:spPr>
          <a:xfrm>
            <a:off x="187340" y="5180779"/>
            <a:ext cx="5921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TOP SECRET!</a:t>
            </a:r>
            <a:r>
              <a:rPr lang="en-US" noProof="0" dirty="0"/>
              <a:t>  </a:t>
            </a:r>
            <a:r>
              <a:rPr lang="en-US" noProof="0" dirty="0" err="1"/>
              <a:t>DuraShare</a:t>
            </a:r>
            <a:r>
              <a:rPr lang="en-US" noProof="0" dirty="0"/>
              <a:t> – </a:t>
            </a:r>
            <a:r>
              <a:rPr lang="en-US" dirty="0"/>
              <a:t>3-of-5 TABConf8 – </a:t>
            </a:r>
            <a:r>
              <a:rPr lang="en-US" b="1" dirty="0"/>
              <a:t>Share 5 (S5)</a:t>
            </a:r>
            <a:endParaRPr lang="en-US" b="1" noProof="0" dirty="0">
              <a:solidFill>
                <a:srgbClr val="FF0000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DA62579-379D-F642-BD9F-4DBB157B503C}"/>
              </a:ext>
            </a:extLst>
          </p:cNvPr>
          <p:cNvCxnSpPr>
            <a:cxnSpLocks/>
          </p:cNvCxnSpPr>
          <p:nvPr/>
        </p:nvCxnSpPr>
        <p:spPr>
          <a:xfrm>
            <a:off x="309150" y="6786206"/>
            <a:ext cx="881301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BEC92AC-BCEB-A415-0683-962D7729D4A6}"/>
              </a:ext>
            </a:extLst>
          </p:cNvPr>
          <p:cNvSpPr txBox="1"/>
          <p:nvPr/>
        </p:nvSpPr>
        <p:spPr>
          <a:xfrm>
            <a:off x="1493550" y="599398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W2.S5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9E72A2-4977-B6FB-C973-C3A5D39312ED}"/>
              </a:ext>
            </a:extLst>
          </p:cNvPr>
          <p:cNvSpPr/>
          <p:nvPr/>
        </p:nvSpPr>
        <p:spPr>
          <a:xfrm>
            <a:off x="1493550" y="6191980"/>
            <a:ext cx="864539" cy="359243"/>
          </a:xfrm>
          <a:prstGeom prst="rect">
            <a:avLst/>
          </a:prstGeom>
          <a:noFill/>
          <a:ln>
            <a:solidFill>
              <a:srgbClr val="0F9ED5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81C0F7-4D09-3CA4-CC3D-27168C4790B8}"/>
              </a:ext>
            </a:extLst>
          </p:cNvPr>
          <p:cNvCxnSpPr>
            <a:cxnSpLocks/>
          </p:cNvCxnSpPr>
          <p:nvPr/>
        </p:nvCxnSpPr>
        <p:spPr>
          <a:xfrm>
            <a:off x="1493550" y="6786206"/>
            <a:ext cx="881301" cy="0"/>
          </a:xfrm>
          <a:prstGeom prst="line">
            <a:avLst/>
          </a:prstGeom>
          <a:ln w="9525"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09458E9-1B12-5DD9-45F6-A38503566895}"/>
              </a:ext>
            </a:extLst>
          </p:cNvPr>
          <p:cNvSpPr txBox="1"/>
          <p:nvPr/>
        </p:nvSpPr>
        <p:spPr>
          <a:xfrm>
            <a:off x="2677950" y="599398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W3.S5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B6EF512-2A85-E849-8654-F5EE605F36EE}"/>
              </a:ext>
            </a:extLst>
          </p:cNvPr>
          <p:cNvSpPr/>
          <p:nvPr/>
        </p:nvSpPr>
        <p:spPr>
          <a:xfrm>
            <a:off x="2677950" y="6191980"/>
            <a:ext cx="864539" cy="359243"/>
          </a:xfrm>
          <a:prstGeom prst="rect">
            <a:avLst/>
          </a:prstGeom>
          <a:noFill/>
          <a:ln>
            <a:solidFill>
              <a:srgbClr val="4EA72E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FD7CDA6-3F48-DDCE-EC73-C72650FBC523}"/>
              </a:ext>
            </a:extLst>
          </p:cNvPr>
          <p:cNvCxnSpPr>
            <a:cxnSpLocks/>
          </p:cNvCxnSpPr>
          <p:nvPr/>
        </p:nvCxnSpPr>
        <p:spPr>
          <a:xfrm>
            <a:off x="2677950" y="6786206"/>
            <a:ext cx="881301" cy="0"/>
          </a:xfrm>
          <a:prstGeom prst="line">
            <a:avLst/>
          </a:prstGeom>
          <a:ln w="9525"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C761D89-7D8A-8EEC-CF37-D5CF203202C9}"/>
              </a:ext>
            </a:extLst>
          </p:cNvPr>
          <p:cNvSpPr txBox="1"/>
          <p:nvPr/>
        </p:nvSpPr>
        <p:spPr>
          <a:xfrm>
            <a:off x="3862350" y="599398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R1.S5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8823D28-81F7-5143-5ED2-0A3C6E2B73B8}"/>
              </a:ext>
            </a:extLst>
          </p:cNvPr>
          <p:cNvSpPr/>
          <p:nvPr/>
        </p:nvSpPr>
        <p:spPr>
          <a:xfrm>
            <a:off x="3862350" y="6191980"/>
            <a:ext cx="864539" cy="359243"/>
          </a:xfrm>
          <a:prstGeom prst="rect">
            <a:avLst/>
          </a:prstGeom>
          <a:noFill/>
          <a:ln>
            <a:solidFill>
              <a:srgbClr val="A02A93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F632798-51CA-3BBA-42E5-A0E4565C6E1F}"/>
              </a:ext>
            </a:extLst>
          </p:cNvPr>
          <p:cNvCxnSpPr>
            <a:cxnSpLocks/>
          </p:cNvCxnSpPr>
          <p:nvPr/>
        </p:nvCxnSpPr>
        <p:spPr>
          <a:xfrm>
            <a:off x="3862350" y="6786206"/>
            <a:ext cx="881301" cy="0"/>
          </a:xfrm>
          <a:prstGeom prst="line">
            <a:avLst/>
          </a:prstGeom>
          <a:ln w="9525">
            <a:solidFill>
              <a:srgbClr val="A02A93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E013A81-E3C7-1CB6-0514-6BEDF82F6EEB}"/>
              </a:ext>
            </a:extLst>
          </p:cNvPr>
          <p:cNvSpPr txBox="1"/>
          <p:nvPr/>
        </p:nvSpPr>
        <p:spPr>
          <a:xfrm>
            <a:off x="5046750" y="599398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MA1.S5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CF105FE-1176-9E02-95A3-61F7A61076A4}"/>
              </a:ext>
            </a:extLst>
          </p:cNvPr>
          <p:cNvSpPr/>
          <p:nvPr/>
        </p:nvSpPr>
        <p:spPr>
          <a:xfrm>
            <a:off x="5046750" y="619198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95F468-1BA8-07D5-E64B-DDABE789FB84}"/>
              </a:ext>
            </a:extLst>
          </p:cNvPr>
          <p:cNvSpPr txBox="1"/>
          <p:nvPr/>
        </p:nvSpPr>
        <p:spPr>
          <a:xfrm>
            <a:off x="5939550" y="5993980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MB1.S5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A20FFDB-86A5-0BA8-05D3-1B4144EC435A}"/>
              </a:ext>
            </a:extLst>
          </p:cNvPr>
          <p:cNvSpPr/>
          <p:nvPr/>
        </p:nvSpPr>
        <p:spPr>
          <a:xfrm>
            <a:off x="5939550" y="619198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872BAEF-3247-FC8F-0709-B82EA73A5946}"/>
              </a:ext>
            </a:extLst>
          </p:cNvPr>
          <p:cNvSpPr txBox="1"/>
          <p:nvPr/>
        </p:nvSpPr>
        <p:spPr>
          <a:xfrm>
            <a:off x="187340" y="5645950"/>
            <a:ext cx="59215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Backup Name: _________________________________________ Creation Date:____________________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C17E9C9-61F7-41B4-52AF-5C3F9A6F4064}"/>
              </a:ext>
            </a:extLst>
          </p:cNvPr>
          <p:cNvSpPr txBox="1"/>
          <p:nvPr/>
        </p:nvSpPr>
        <p:spPr>
          <a:xfrm>
            <a:off x="309150" y="5898730"/>
            <a:ext cx="8645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100</a:t>
            </a:r>
            <a:endParaRPr lang="en-US" sz="800" b="1" noProof="0" dirty="0">
              <a:solidFill>
                <a:srgbClr val="FF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9774099-EAFF-3FFD-C8F9-8C55213E5FC8}"/>
              </a:ext>
            </a:extLst>
          </p:cNvPr>
          <p:cNvSpPr txBox="1"/>
          <p:nvPr/>
        </p:nvSpPr>
        <p:spPr>
          <a:xfrm>
            <a:off x="1493549" y="5898730"/>
            <a:ext cx="8645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200</a:t>
            </a:r>
            <a:endParaRPr lang="en-US" sz="800" b="1" noProof="0" dirty="0">
              <a:solidFill>
                <a:srgbClr val="FF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48E53A0-B5A0-BD01-F7B6-2399DAF5ACBA}"/>
              </a:ext>
            </a:extLst>
          </p:cNvPr>
          <p:cNvSpPr txBox="1"/>
          <p:nvPr/>
        </p:nvSpPr>
        <p:spPr>
          <a:xfrm>
            <a:off x="2677681" y="5898730"/>
            <a:ext cx="8645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300</a:t>
            </a:r>
            <a:endParaRPr lang="en-US" sz="800" b="1" noProof="0" dirty="0">
              <a:solidFill>
                <a:srgbClr val="FF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37AA061-6F46-B4CA-D8B0-1A2F910E5D6F}"/>
              </a:ext>
            </a:extLst>
          </p:cNvPr>
          <p:cNvSpPr txBox="1"/>
          <p:nvPr/>
        </p:nvSpPr>
        <p:spPr>
          <a:xfrm>
            <a:off x="201150" y="6253653"/>
            <a:ext cx="923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1</a:t>
            </a:r>
            <a:endParaRPr lang="en-US" sz="800" b="1" noProof="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82BD452-9C22-EA66-F942-5CAD04F54175}"/>
              </a:ext>
            </a:extLst>
          </p:cNvPr>
          <p:cNvSpPr txBox="1"/>
          <p:nvPr/>
        </p:nvSpPr>
        <p:spPr>
          <a:xfrm>
            <a:off x="201600" y="8395815"/>
            <a:ext cx="45252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Passphrase Hint:____________________________________________________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CA9B88B-8035-E123-C231-B53C04EFDA9C}"/>
              </a:ext>
            </a:extLst>
          </p:cNvPr>
          <p:cNvSpPr txBox="1"/>
          <p:nvPr/>
        </p:nvSpPr>
        <p:spPr>
          <a:xfrm>
            <a:off x="201599" y="8744051"/>
            <a:ext cx="4525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Recovery Verification Address:_______________________________________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8EFF99A-3F4D-CAD5-835D-D13BE45E4384}"/>
              </a:ext>
            </a:extLst>
          </p:cNvPr>
          <p:cNvSpPr txBox="1"/>
          <p:nvPr/>
        </p:nvSpPr>
        <p:spPr>
          <a:xfrm>
            <a:off x="41291" y="9458573"/>
            <a:ext cx="6769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/>
              <a:t>© 2026 GRIFORTIS. </a:t>
            </a:r>
            <a:r>
              <a:rPr lang="en-US" sz="600" dirty="0"/>
              <a:t>Licensed under </a:t>
            </a:r>
            <a:r>
              <a:rPr lang="en-US" sz="600" b="1" dirty="0"/>
              <a:t>CC BY-NC-SA 4.0</a:t>
            </a:r>
            <a:r>
              <a:rPr lang="en-US" sz="600" dirty="0"/>
              <a:t> (Free for personal &amp; educational use). Underlying </a:t>
            </a:r>
            <a:r>
              <a:rPr lang="en-US" sz="600" dirty="0" err="1"/>
              <a:t>DuraShare</a:t>
            </a:r>
            <a:r>
              <a:rPr lang="en-US" sz="600" dirty="0"/>
              <a:t> protocol is Open Source. Provided "as is" without warranty. The user accepts full responsibility for the secure execution of the protocol. v0.7.1</a:t>
            </a:r>
            <a:endParaRPr lang="en-US" sz="600" noProof="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63FF4C0-AE35-FAE7-975A-F6DC8EFE3097}"/>
              </a:ext>
            </a:extLst>
          </p:cNvPr>
          <p:cNvSpPr txBox="1"/>
          <p:nvPr/>
        </p:nvSpPr>
        <p:spPr>
          <a:xfrm>
            <a:off x="251727" y="411609"/>
            <a:ext cx="5695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This page holds part of a secret. </a:t>
            </a:r>
            <a:r>
              <a:rPr lang="en-US" sz="800" b="1" dirty="0">
                <a:solidFill>
                  <a:srgbClr val="FF0000"/>
                </a:solidFill>
              </a:rPr>
              <a:t>DO NOT REVEAL, PHOTOGRAPH OR DIGITIZE!</a:t>
            </a:r>
            <a:r>
              <a:rPr lang="en-US" sz="800" dirty="0"/>
              <a:t> Any exposure can lead to loss of funds.</a:t>
            </a:r>
            <a:endParaRPr lang="en-US" sz="600" noProof="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02EB9A0-008F-1BE7-6DF5-3F699CFDC531}"/>
              </a:ext>
            </a:extLst>
          </p:cNvPr>
          <p:cNvSpPr txBox="1"/>
          <p:nvPr/>
        </p:nvSpPr>
        <p:spPr>
          <a:xfrm>
            <a:off x="187340" y="5440619"/>
            <a:ext cx="5695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This page holds part of a secret. </a:t>
            </a:r>
            <a:r>
              <a:rPr lang="en-US" sz="800" b="1" dirty="0">
                <a:solidFill>
                  <a:srgbClr val="FF0000"/>
                </a:solidFill>
              </a:rPr>
              <a:t>DO NOT REVEAL, PHOTOGRAPH OR DIGITIZE!</a:t>
            </a:r>
            <a:r>
              <a:rPr lang="en-US" sz="800" dirty="0"/>
              <a:t> Any exposure can lead to loss of funds.</a:t>
            </a:r>
            <a:endParaRPr lang="en-US" sz="600" noProof="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861C4AF6-1788-34B8-A809-C1084209820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677" t="13073" r="73757" b="60369"/>
          <a:stretch>
            <a:fillRect/>
          </a:stretch>
        </p:blipFill>
        <p:spPr>
          <a:xfrm>
            <a:off x="4872748" y="7470595"/>
            <a:ext cx="1839391" cy="1865268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72A16D3F-5FBA-2CA4-5C76-8C8CF32F1E6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677" t="13073" r="73757" b="60369"/>
          <a:stretch>
            <a:fillRect/>
          </a:stretch>
        </p:blipFill>
        <p:spPr>
          <a:xfrm>
            <a:off x="4872748" y="2429246"/>
            <a:ext cx="1839391" cy="1865268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86D2CB2B-D25E-8419-C22E-28A59E0EC856}"/>
              </a:ext>
            </a:extLst>
          </p:cNvPr>
          <p:cNvSpPr txBox="1"/>
          <p:nvPr/>
        </p:nvSpPr>
        <p:spPr>
          <a:xfrm>
            <a:off x="201599" y="4049068"/>
            <a:ext cx="4525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BIP39 Language:______________ Session:_____________________________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BE05291-6C49-2695-EAAC-958512893C0D}"/>
              </a:ext>
            </a:extLst>
          </p:cNvPr>
          <p:cNvSpPr txBox="1"/>
          <p:nvPr/>
        </p:nvSpPr>
        <p:spPr>
          <a:xfrm>
            <a:off x="201599" y="9083648"/>
            <a:ext cx="4525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BIP39 Language:________________ Session:___________________________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8222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14158</TotalTime>
  <Words>1255</Words>
  <Application>Microsoft Macintosh PowerPoint</Application>
  <PresentationFormat>A4 Paper (210x297 mm)</PresentationFormat>
  <Paragraphs>175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Renato Schiavinato Lopez</dc:creator>
  <cp:lastModifiedBy>Renato Schiavinato Lopez</cp:lastModifiedBy>
  <cp:revision>59</cp:revision>
  <cp:lastPrinted>2026-09-10T14:52:44Z</cp:lastPrinted>
  <dcterms:created xsi:type="dcterms:W3CDTF">2025-12-07T22:50:14Z</dcterms:created>
  <dcterms:modified xsi:type="dcterms:W3CDTF">2026-10-07T02:24:53Z</dcterms:modified>
</cp:coreProperties>
</file>